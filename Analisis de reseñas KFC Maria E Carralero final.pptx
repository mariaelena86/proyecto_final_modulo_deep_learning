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4" r:id="rId4"/>
  </p:sldMasterIdLst>
  <p:notesMasterIdLst>
    <p:notesMasterId r:id="rId14"/>
  </p:notesMasterIdLst>
  <p:handoutMasterIdLst>
    <p:handoutMasterId r:id="rId15"/>
  </p:handoutMasterIdLst>
  <p:sldIdLst>
    <p:sldId id="274" r:id="rId5"/>
    <p:sldId id="275" r:id="rId6"/>
    <p:sldId id="276" r:id="rId7"/>
    <p:sldId id="277" r:id="rId8"/>
    <p:sldId id="278" r:id="rId9"/>
    <p:sldId id="280" r:id="rId10"/>
    <p:sldId id="279" r:id="rId11"/>
    <p:sldId id="281" r:id="rId12"/>
    <p:sldId id="28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E4A"/>
    <a:srgbClr val="FA9D22"/>
    <a:srgbClr val="D24726"/>
    <a:srgbClr val="C57603"/>
    <a:srgbClr val="DF8603"/>
    <a:srgbClr val="FAE3C2"/>
    <a:srgbClr val="F8D5A2"/>
    <a:srgbClr val="FAD6DE"/>
    <a:srgbClr val="0070C0"/>
    <a:srgbClr val="005D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075" autoAdjust="0"/>
    <p:restoredTop sz="70944" autoAdjust="0"/>
  </p:normalViewPr>
  <p:slideViewPr>
    <p:cSldViewPr snapToGrid="0" snapToObjects="1">
      <p:cViewPr varScale="1">
        <p:scale>
          <a:sx n="78" d="100"/>
          <a:sy n="78" d="100"/>
        </p:scale>
        <p:origin x="2496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-246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106" d="100"/>
          <a:sy n="106" d="100"/>
        </p:scale>
        <p:origin x="5322" y="12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05C7BFC9-90C9-493D-8E39-29491E08B28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77435CA-70B9-42A7-9DD7-894A77E56EA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566609C-52B8-4717-930F-241B18C770FA}" type="datetime1">
              <a:rPr lang="es-ES" smtClean="0"/>
              <a:t>13/10/2026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D3A967C-4F79-4F57-9F23-0B48F94663C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9F853DE-8E49-4424-8F8A-3195E05BB1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BF8BEA1-04A1-4291-B27C-3B9C2EF4757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500548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F921228-447C-4424-B0D9-81E0FEA6570D}" type="datetime1">
              <a:rPr lang="es-ES" noProof="0" smtClean="0"/>
              <a:t>13/10/2026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C0C2C40-CB1C-4820-9151-EC51EC2E7E0F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9310589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"¡Hola! Presentamos el </a:t>
            </a:r>
            <a:r>
              <a:rPr lang="es-419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analisis</a:t>
            </a:r>
            <a:r>
              <a:rPr lang="es-419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la empresa seleccionada KFC para responder a la pregunta Dónde se sitúa KFC frente a sus competidores del sector QSR(Quick Service Restaurant) y qué temas debemos analizar para atraer y retener el talento."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s-ES" noProof="0" smtClean="0"/>
              <a:t>1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799466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empresa target selecciona ha sido KFC, y el objetivo es aplicar un modelo de sentimientos para analizar las opiniones Pros y </a:t>
            </a:r>
            <a:r>
              <a:rPr lang="es-419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los trabajadores y permita identificar las fortalezas y áreas de mejora de KFC como empleador frente a sus competidores.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419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Las Empresas a Comparar (Peers) son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McDonald's, </a:t>
            </a:r>
            <a:r>
              <a:rPr lang="es-419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Domino's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Starbucks y </a:t>
            </a:r>
            <a:r>
              <a:rPr lang="es-419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Subway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 que son empresas que compiten directamente en el mercado laboral por el </a:t>
            </a:r>
            <a:r>
              <a:rPr lang="es-419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mismo perfil operativo de trabajadores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base de nuestro estudio ha sido un </a:t>
            </a:r>
            <a:r>
              <a:rPr lang="es-419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dataset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reseñas de </a:t>
            </a:r>
            <a:r>
              <a:rPr lang="es-419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Glassdoor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 el periodo 2018–2023,  el cual hemos filtrado para obtener una muestra de 2.000 reseñas por empresa, sumando un total de 10.000 evaluaciones.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garantizar la fiabilidad del modelo se ha realizado una limpieza de datos para el texto de las reseñas en Pros y </a:t>
            </a:r>
            <a:r>
              <a:rPr lang="es-419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y se han creado nuevas variables que ayuden al análisis.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s-ES" noProof="0" smtClean="0"/>
              <a:t>2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5482247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Comenzamos explorando los indicadores generales percibidos por la plantilla.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419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Donde podemos ver que l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 trabajadores actuales son los que mas reseñas han subido a la plataforma.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419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KFC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Mantiene un rating relativamente estable en </a:t>
            </a:r>
            <a:r>
              <a:rPr lang="es-419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comparacion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 el sector.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419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Starbucks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Empresa con mejor rating medio y la que recibe las mejores puntuaciones del sector.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s-ES" noProof="0" smtClean="0"/>
              <a:t>3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4006276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validar la fiabilidad de los datos aplicamos el modelo de análisis de sentimiento </a:t>
            </a:r>
            <a:r>
              <a:rPr lang="es-419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DistilBERT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sobre las reseñas registradas en pros y </a:t>
            </a:r>
            <a:r>
              <a:rPr lang="es-419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por separado.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 resultados demuestran una elevada precisión y un comportamiento homogéneo entre KFC y el sector: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419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419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Analisis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Casos Discordantes:</a:t>
            </a:r>
          </a:p>
          <a:p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Analizamos que las desviaciones del modelo se pueden explicar por matices del lenguaje o sarcasmo como en el caso de 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“Good place </a:t>
            </a:r>
            <a:r>
              <a:rPr lang="es-419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419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419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419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else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  que es una reseña Positiva Registrada en Pros, pero el modelo la evalúa como negativa y puede deberse al matiz del lenguaje en la parte de "</a:t>
            </a:r>
            <a:r>
              <a:rPr lang="es-419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419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else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el caso “</a:t>
            </a:r>
            <a:r>
              <a:rPr lang="es-419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419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bad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419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419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419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great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419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people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 que es una reseña Negativa Registrada en </a:t>
            </a:r>
            <a:r>
              <a:rPr lang="es-419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pero que el modelo la ha evaluado como positiva y puede deberse que al detectar el elogio "</a:t>
            </a:r>
            <a:r>
              <a:rPr lang="es-419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great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419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people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 la </a:t>
            </a:r>
            <a:r>
              <a:rPr lang="es-419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intreprete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así de 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s-ES" noProof="0" smtClean="0"/>
              <a:t>4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9488166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Se ha utilizado el modelo  </a:t>
            </a:r>
            <a:r>
              <a:rPr lang="es-419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BERTopic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para agrupar las reseñas por categorías de negocio que sean fáciles de interpretar para Recursos Humanos</a:t>
            </a:r>
            <a:b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s-419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El modelo ha sido  entrenado de forma unificada para todos las reseñas en pros y </a:t>
            </a:r>
            <a:r>
              <a:rPr lang="es-419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todas las empresas juntas.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Podemos concluir que el mayor numero de las reseñas de Pros se centran en el </a:t>
            </a:r>
            <a:r>
              <a:rPr lang="es-419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topic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Beneficios y Flexibilidad (con un 91.42 %).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en </a:t>
            </a:r>
            <a:r>
              <a:rPr lang="es-419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el mayor numero de las reseñas se concentran en Salario, Horarios y </a:t>
            </a:r>
            <a:r>
              <a:rPr lang="es-419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Getión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(con un 88.04%).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s-ES" noProof="0" smtClean="0"/>
              <a:t>5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7704938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 </a:t>
            </a:r>
            <a:r>
              <a:rPr lang="es-419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Topics</a:t>
            </a:r>
            <a:r>
              <a:rPr lang="es-419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seleccionados en Pros han sido: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Beneficios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Flexibilidad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Compañeros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Aprendizaje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Descuentos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Ventajas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Destacadas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Valoración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Positiva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General</a:t>
            </a:r>
          </a:p>
          <a:p>
            <a:pPr lvl="0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419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 </a:t>
            </a:r>
            <a:r>
              <a:rPr lang="es-419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Topics</a:t>
            </a:r>
            <a:r>
              <a:rPr lang="es-419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seleccionados en </a:t>
            </a:r>
            <a:r>
              <a:rPr lang="es-419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</a:t>
            </a:r>
            <a:r>
              <a:rPr lang="es-419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han sido: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Salario,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Horarios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Gestión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Quejas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Destacadas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Problemas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 la Empresa</a:t>
            </a:r>
          </a:p>
          <a:p>
            <a:pPr lvl="0"/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Gastos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del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Vehículo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(Delivery)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Exigencia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Física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Podemos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concluir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el Tema Salario,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Horarios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Gestión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 el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quejas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recibe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tanto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KFC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el sector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el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Beneficios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Flexibilidad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recibe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numero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reseñas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positivas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tanto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KFC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el sector,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aunque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el sector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tiene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mejores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valoraciones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s-ES" noProof="0" smtClean="0"/>
              <a:t>6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005911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evaluar si una categoría es una fortaleza o una debilidad, calculamos la métrica de Balance Neto (% PROS - % CONS) y medimos el Gap diferencial respecto al sector.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Podemos observar como Fortalezas esos temas que tienen mejores opiniones de los empleados con respecto al sector: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Como es “Compañeros y Aprendizaje”(referente al buen clima laboral) (+1,61 </a:t>
            </a:r>
            <a:r>
              <a:rPr lang="es-419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y “Gastos del Vehículo”(referente a beneficios en </a:t>
            </a:r>
            <a:r>
              <a:rPr lang="es-419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Delivery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)(+1.88 </a:t>
            </a:r>
            <a:r>
              <a:rPr lang="es-419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419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Podemos observar como Areas de mejoras esos temas que teniendo buenas opiniones dentro de la compañía pero que en </a:t>
            </a:r>
            <a:r>
              <a:rPr lang="es-419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comparacion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 el sector están por debajo: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Como el tema “Salario, Horarios y Gestión” (-0,22 </a:t>
            </a:r>
            <a:r>
              <a:rPr lang="es-419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que es el que mayor quejas presenta internamente pero en el resto del sector también es un punto de criticas. Y el tema “Beneficios y Flexibilidad“(-3,83 </a:t>
            </a:r>
            <a:r>
              <a:rPr lang="es-419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que es un tema que tiene buenas opiniones internas pero cuando se compara con el sector esta un poco por debajo.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s-ES" noProof="0" smtClean="0"/>
              <a:t>7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7751600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el análisis de las prioridades representamos los </a:t>
            </a:r>
            <a:r>
              <a:rPr lang="es-419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topics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 un </a:t>
            </a:r>
            <a:r>
              <a:rPr lang="es-419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matriz de priorización 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analizar donde caen en las diferentes zonas y así poder sacar conclusiones.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Podemos observar que en la </a:t>
            </a:r>
            <a:r>
              <a:rPr lang="es-419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Zona Roja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muestra el tema </a:t>
            </a:r>
            <a:r>
              <a:rPr lang="es-419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Salario, Horarios y Gestión 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concentra un mayor peso de las quejas y es un problema que afecta la retención del personal y requiere aplicar medidas.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En la </a:t>
            </a:r>
            <a:r>
              <a:rPr lang="es-419" sz="1200" b="1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Zona Naranja 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se muestra </a:t>
            </a:r>
            <a:r>
              <a:rPr lang="es-419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Problemas con la Empresa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 concentra un menor peso de las quejas pero igual se le puede prestar atención para lograr una mayor estabilidad en la plantilla de trabajadores.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por ultimo vemos en la </a:t>
            </a:r>
            <a:r>
              <a:rPr lang="es-419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Zona Verde  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se muestra </a:t>
            </a:r>
            <a:r>
              <a:rPr lang="es-419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Gastos del Vehículo 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</a:t>
            </a:r>
            <a:r>
              <a:rPr lang="es-419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Exigencia Física 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constituyen los temas con menor peso de las quejas, que igual se podría analizar alguna mejora.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s-ES" noProof="0" smtClean="0"/>
              <a:t>8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5864207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Podemos concluir que como Puntos Fuertes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el tema</a:t>
            </a:r>
            <a:r>
              <a:rPr lang="es-419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Buen Clima Laboral: 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 la principal fortaleza de KFC frente a la competencia(+1.61 </a:t>
            </a:r>
            <a:r>
              <a:rPr lang="es-419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vs </a:t>
            </a:r>
            <a:r>
              <a:rPr lang="es-419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peers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419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Beneficios en Producto: 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referente a</a:t>
            </a:r>
            <a:r>
              <a:rPr lang="es-419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comida y descuentos son un incentivo muy valorado por la plantilla(+1.22 </a:t>
            </a:r>
            <a:r>
              <a:rPr lang="es-419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vs </a:t>
            </a:r>
            <a:r>
              <a:rPr lang="es-419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peers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419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como áreas de mejora: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tema </a:t>
            </a:r>
            <a:r>
              <a:rPr lang="es-419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Salario, Horarios y Liderazgo</a:t>
            </a:r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Es el principal foco de insatisfacción interna (88.2% de quejas), pero a su vez es un foco de quejas en todo el sector.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tema Beneficios y Flexibilidad aunque es un tema elogiado internamente en KFC, los competidores (Starbucks/McDonald's) se posicionan con mayor atractivo en el mercado.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419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Recomendaciones: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 puede Implantar un esquema de incentivos económicos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 antigüedad como Bonos de Permanencia.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 Rendimiento como Bonus de Rendimiento: incentivo ligado a la productividad, ventas y tiempos de servicio.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 puede Mejorar la Previsibilidad Horaria: publicando los horarios de los turnos rotativos con semanas de antelación para facilitar la conciliación de los trabajadores.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419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 puede Implementar programas de capacitación para los Store Managers en gestión de equipos y resolución de conflictos.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s-ES" noProof="0" smtClean="0"/>
              <a:t>9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23471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pPr rtl="0"/>
            <a:fld id="{9BA3B2C9-77E8-447F-9557-B50D1CE268AB}" type="datetime1">
              <a:rPr lang="es-ES" noProof="0" smtClean="0"/>
              <a:t>13/10/2026</a:t>
            </a:fld>
            <a:endParaRPr lang="es-ES" noProof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5F44216D-285E-4743-ADC0-F517FFC76697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34427743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9BA3B2C9-77E8-447F-9557-B50D1CE268AB}" type="datetime1">
              <a:rPr lang="es-ES" noProof="0" smtClean="0"/>
              <a:t>13/10/2026</a:t>
            </a:fld>
            <a:endParaRPr lang="es-ES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5F44216D-285E-4743-ADC0-F517FFC76697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18362088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pPr rtl="0"/>
            <a:endParaRPr lang="es-ES" noProof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rtl="0"/>
            <a:fld id="{9BA3B2C9-77E8-447F-9557-B50D1CE268AB}" type="datetime1">
              <a:rPr lang="es-ES" noProof="0" smtClean="0"/>
              <a:t>13/10/2026</a:t>
            </a:fld>
            <a:endParaRPr lang="es-ES" noProof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rtl="0"/>
            <a:fld id="{5F44216D-285E-4743-ADC0-F517FFC76697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36013252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BA3B2C9-77E8-447F-9557-B50D1CE268AB}" type="datetime1">
              <a:rPr lang="es-ES" noProof="0" smtClean="0"/>
              <a:t>13/10/2026</a:t>
            </a:fld>
            <a:endParaRPr lang="es-ES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5F44216D-285E-4743-ADC0-F517FFC76697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59502501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9BA3B2C9-77E8-447F-9557-B50D1CE268AB}" type="datetime1">
              <a:rPr lang="es-ES" noProof="0" smtClean="0"/>
              <a:t>13/10/2026</a:t>
            </a:fld>
            <a:endParaRPr lang="es-ES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5F44216D-285E-4743-ADC0-F517FFC76697}" type="slidenum">
              <a:rPr lang="es-ES" noProof="0" smtClean="0"/>
              <a:t>‹#›</a:t>
            </a:fld>
            <a:endParaRPr lang="es-ES" noProof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75068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9BA3B2C9-77E8-447F-9557-B50D1CE268AB}" type="datetime1">
              <a:rPr lang="es-ES" noProof="0" smtClean="0"/>
              <a:t>13/10/2026</a:t>
            </a:fld>
            <a:endParaRPr lang="es-ES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5F44216D-285E-4743-ADC0-F517FFC76697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91007873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9BA3B2C9-77E8-447F-9557-B50D1CE268AB}" type="datetime1">
              <a:rPr lang="es-ES" noProof="0" smtClean="0"/>
              <a:t>13/10/2026</a:t>
            </a:fld>
            <a:endParaRPr lang="es-ES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5F44216D-285E-4743-ADC0-F517FFC76697}" type="slidenum">
              <a:rPr lang="es-ES" noProof="0" smtClean="0"/>
              <a:t>‹#›</a:t>
            </a:fld>
            <a:endParaRPr lang="es-ES" noProof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34114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9BA3B2C9-77E8-447F-9557-B50D1CE268AB}" type="datetime1">
              <a:rPr lang="es-ES" noProof="0" smtClean="0"/>
              <a:t>13/10/2026</a:t>
            </a:fld>
            <a:endParaRPr lang="es-ES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5F44216D-285E-4743-ADC0-F517FFC76697}" type="slidenum">
              <a:rPr lang="es-ES" noProof="0" smtClean="0"/>
              <a:t>‹#›</a:t>
            </a:fld>
            <a:endParaRPr lang="es-ES" noProof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267813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9BA3B2C9-77E8-447F-9557-B50D1CE268AB}" type="datetime1">
              <a:rPr lang="es-ES" noProof="0" smtClean="0"/>
              <a:t>13/10/2026</a:t>
            </a:fld>
            <a:endParaRPr lang="es-ES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5F44216D-285E-4743-ADC0-F517FFC76697}" type="slidenum">
              <a:rPr lang="es-ES" noProof="0" smtClean="0"/>
              <a:t>‹#›</a:t>
            </a:fld>
            <a:endParaRPr lang="es-ES" noProof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389346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9BA3B2C9-77E8-447F-9557-B50D1CE268AB}" type="datetime1">
              <a:rPr lang="es-ES" noProof="0" smtClean="0"/>
              <a:t>13/10/2026</a:t>
            </a:fld>
            <a:endParaRPr lang="es-ES" noProof="0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5F44216D-285E-4743-ADC0-F517FFC76697}" type="slidenum">
              <a:rPr lang="es-ES" noProof="0" smtClean="0"/>
              <a:t>‹#›</a:t>
            </a:fld>
            <a:endParaRPr lang="es-ES" noProof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215813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pPr rtl="0"/>
            <a:fld id="{9BA3B2C9-77E8-447F-9557-B50D1CE268AB}" type="datetime1">
              <a:rPr lang="es-ES" noProof="0" smtClean="0"/>
              <a:t>13/10/2026</a:t>
            </a:fld>
            <a:endParaRPr lang="es-ES" noProof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pPr rtl="0"/>
            <a:endParaRPr lang="es-ES" noProof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rtl="0"/>
            <a:fld id="{5F44216D-285E-4743-ADC0-F517FFC76697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97749636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pPr rtl="0"/>
            <a:fld id="{9BA3B2C9-77E8-447F-9557-B50D1CE268AB}" type="datetime1">
              <a:rPr lang="es-ES" noProof="0" smtClean="0"/>
              <a:t>13/10/2026</a:t>
            </a:fld>
            <a:endParaRPr lang="es-ES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pPr rtl="0"/>
            <a:endParaRPr lang="es-ES" noProof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pPr rtl="0"/>
            <a:fld id="{5F44216D-285E-4743-ADC0-F517FFC76697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58450338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pPr rtl="0"/>
            <a:fld id="{9BA3B2C9-77E8-447F-9557-B50D1CE268AB}" type="datetime1">
              <a:rPr lang="es-ES" noProof="0" smtClean="0"/>
              <a:t>13/10/2026</a:t>
            </a:fld>
            <a:endParaRPr lang="es-E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pPr rtl="0"/>
            <a:endParaRPr lang="es-ES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pPr rtl="0"/>
            <a:fld id="{5F44216D-285E-4743-ADC0-F517FFC76697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54357165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pPr rtl="0"/>
            <a:fld id="{9BA3B2C9-77E8-447F-9557-B50D1CE268AB}" type="datetime1">
              <a:rPr lang="es-ES" noProof="0" smtClean="0"/>
              <a:t>13/10/2026</a:t>
            </a:fld>
            <a:endParaRPr lang="es-ES" noProof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pPr rtl="0"/>
            <a:endParaRPr lang="es-ES" noProof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pPr rtl="0"/>
            <a:fld id="{5F44216D-285E-4743-ADC0-F517FFC76697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24010840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pPr rtl="0"/>
            <a:fld id="{9BA3B2C9-77E8-447F-9557-B50D1CE268AB}" type="datetime1">
              <a:rPr lang="es-ES" noProof="0" smtClean="0"/>
              <a:t>13/10/2026</a:t>
            </a:fld>
            <a:endParaRPr lang="es-ES" noProof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pPr rtl="0"/>
            <a:endParaRPr lang="es-ES" noProof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pPr rtl="0"/>
            <a:fld id="{5F44216D-285E-4743-ADC0-F517FFC76697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9020391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pPr rtl="0"/>
            <a:endParaRPr lang="es-ES" noProof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9BA3B2C9-77E8-447F-9557-B50D1CE268AB}" type="datetime1">
              <a:rPr lang="es-ES" noProof="0" smtClean="0"/>
              <a:t>13/10/2026</a:t>
            </a:fld>
            <a:endParaRPr lang="es-ES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5F44216D-285E-4743-ADC0-F517FFC76697}" type="slidenum">
              <a:rPr lang="es-ES" noProof="0" smtClean="0"/>
              <a:t>‹#›</a:t>
            </a:fld>
            <a:endParaRPr lang="es-ES" noProof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343632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9BA3B2C9-77E8-447F-9557-B50D1CE268AB}" type="datetime1">
              <a:rPr lang="es-ES" noProof="0" smtClean="0"/>
              <a:t>13/10/2026</a:t>
            </a:fld>
            <a:endParaRPr lang="es-ES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5F44216D-285E-4743-ADC0-F517FFC76697}" type="slidenum">
              <a:rPr lang="es-ES" noProof="0" smtClean="0"/>
              <a:t>‹#›</a:t>
            </a:fld>
            <a:endParaRPr lang="es-ES" noProof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3213344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pPr rtl="0"/>
            <a:fld id="{9BA3B2C9-77E8-447F-9557-B50D1CE268AB}" type="datetime1">
              <a:rPr lang="es-ES" noProof="0" smtClean="0"/>
              <a:t>13/10/2026</a:t>
            </a:fld>
            <a:endParaRPr lang="es-ES" noProof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5F44216D-285E-4743-ADC0-F517FFC76697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89418167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9BA3B2C9-77E8-447F-9557-B50D1CE268AB}" type="datetime1">
              <a:rPr lang="es-ES" noProof="0" smtClean="0"/>
              <a:t>13/10/2026</a:t>
            </a:fld>
            <a:endParaRPr lang="es-ES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5F44216D-285E-4743-ADC0-F517FFC76697}" type="slidenum">
              <a:rPr lang="es-ES" noProof="0" smtClean="0"/>
              <a:t>‹#›</a:t>
            </a:fld>
            <a:endParaRPr lang="es-ES" noProof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565804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9BA3B2C9-77E8-447F-9557-B50D1CE268AB}" type="datetime1">
              <a:rPr lang="es-ES" noProof="0" smtClean="0"/>
              <a:t>13/10/2026</a:t>
            </a:fld>
            <a:endParaRPr lang="es-E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5F44216D-285E-4743-ADC0-F517FFC76697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6715446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9BA3B2C9-77E8-447F-9557-B50D1CE268AB}" type="datetime1">
              <a:rPr lang="es-ES" noProof="0" smtClean="0"/>
              <a:t>13/10/2026</a:t>
            </a:fld>
            <a:endParaRPr lang="es-ES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5F44216D-285E-4743-ADC0-F517FFC76697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80535179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9BA3B2C9-77E8-447F-9557-B50D1CE268AB}" type="datetime1">
              <a:rPr lang="es-ES" noProof="0" smtClean="0"/>
              <a:t>13/10/2026</a:t>
            </a:fld>
            <a:endParaRPr lang="es-ES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5F44216D-285E-4743-ADC0-F517FFC76697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028079862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9BA3B2C9-77E8-447F-9557-B50D1CE268AB}" type="datetime1">
              <a:rPr lang="es-ES" noProof="0" smtClean="0"/>
              <a:t>13/10/2026</a:t>
            </a:fld>
            <a:endParaRPr lang="es-ES" noProof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5F44216D-285E-4743-ADC0-F517FFC76697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092573743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9BA3B2C9-77E8-447F-9557-B50D1CE268AB}" type="datetime1">
              <a:rPr lang="es-ES" noProof="0" smtClean="0"/>
              <a:t>13/10/2026</a:t>
            </a:fld>
            <a:endParaRPr lang="es-E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5F44216D-285E-4743-ADC0-F517FFC76697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389464704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9BA3B2C9-77E8-447F-9557-B50D1CE268AB}" type="datetime1">
              <a:rPr lang="es-ES" noProof="0" smtClean="0"/>
              <a:t>13/10/2026</a:t>
            </a:fld>
            <a:endParaRPr lang="es-E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5F44216D-285E-4743-ADC0-F517FFC76697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93748306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9BA3B2C9-77E8-447F-9557-B50D1CE268AB}" type="datetime1">
              <a:rPr lang="es-ES" noProof="0" smtClean="0"/>
              <a:t>13/10/2026</a:t>
            </a:fld>
            <a:endParaRPr lang="es-ES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5F44216D-285E-4743-ADC0-F517FFC76697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380751715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9BA3B2C9-77E8-447F-9557-B50D1CE268AB}" type="datetime1">
              <a:rPr lang="es-ES" noProof="0" smtClean="0"/>
              <a:t>13/10/2026</a:t>
            </a:fld>
            <a:endParaRPr lang="es-ES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5F44216D-285E-4743-ADC0-F517FFC76697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06556993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40974584-F7C5-6440-926F-F6A9781D6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310" y="2484470"/>
            <a:ext cx="7552916" cy="2130561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sz="6600" b="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pic>
        <p:nvPicPr>
          <p:cNvPr id="8" name="Imagen 7" descr="Interfaz gráfica de usuario&#10;&#10;Descripción generada automáticamente">
            <a:extLst>
              <a:ext uri="{FF2B5EF4-FFF2-40B4-BE49-F238E27FC236}">
                <a16:creationId xmlns:a16="http://schemas.microsoft.com/office/drawing/2014/main" id="{D7436C2F-09FF-014A-84CC-E0A18AFE2C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3792" y="138819"/>
            <a:ext cx="2369315" cy="86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20126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la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90EAB2A1-27FC-7D46-BBF1-72410CED554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596" y="2560320"/>
            <a:ext cx="94457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Haga clic para modificar los estilos de texto del patrón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Segundo nivel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Tercer nivel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Cuarto nivel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Quinto nivel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1170A3AA-4210-FB4E-9790-9D6891AFF655}"/>
              </a:ext>
            </a:extLst>
          </p:cNvPr>
          <p:cNvCxnSpPr>
            <a:cxnSpLocks/>
          </p:cNvCxnSpPr>
          <p:nvPr userDrawn="1"/>
        </p:nvCxnSpPr>
        <p:spPr>
          <a:xfrm>
            <a:off x="533400" y="1104900"/>
            <a:ext cx="11119104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ítulo 1">
            <a:extLst>
              <a:ext uri="{FF2B5EF4-FFF2-40B4-BE49-F238E27FC236}">
                <a16:creationId xmlns:a16="http://schemas.microsoft.com/office/drawing/2014/main" id="{28B6F196-1924-E341-B33B-77AEF4A87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sz="28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2736486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pPr rtl="0"/>
            <a:fld id="{9BA3B2C9-77E8-447F-9557-B50D1CE268AB}" type="datetime1">
              <a:rPr lang="es-ES" noProof="0" smtClean="0"/>
              <a:t>13/10/2026</a:t>
            </a:fld>
            <a:endParaRPr lang="es-ES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pPr rtl="0"/>
            <a:fld id="{5F44216D-285E-4743-ADC0-F517FFC76697}" type="slidenum">
              <a:rPr lang="es-ES" noProof="0" smtClean="0"/>
              <a:t>‹#›</a:t>
            </a:fld>
            <a:endParaRPr lang="es-ES" noProof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3401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5" r:id="rId1"/>
    <p:sldLayoutId id="2147483946" r:id="rId2"/>
    <p:sldLayoutId id="2147483947" r:id="rId3"/>
    <p:sldLayoutId id="2147483948" r:id="rId4"/>
    <p:sldLayoutId id="2147483949" r:id="rId5"/>
    <p:sldLayoutId id="2147483950" r:id="rId6"/>
    <p:sldLayoutId id="2147483951" r:id="rId7"/>
    <p:sldLayoutId id="2147483952" r:id="rId8"/>
    <p:sldLayoutId id="2147483953" r:id="rId9"/>
    <p:sldLayoutId id="2147483954" r:id="rId10"/>
    <p:sldLayoutId id="2147483955" r:id="rId11"/>
    <p:sldLayoutId id="2147483956" r:id="rId12"/>
    <p:sldLayoutId id="2147483957" r:id="rId13"/>
    <p:sldLayoutId id="2147483958" r:id="rId14"/>
    <p:sldLayoutId id="2147483959" r:id="rId15"/>
    <p:sldLayoutId id="2147483960" r:id="rId16"/>
    <p:sldLayoutId id="2147483961" r:id="rId17"/>
    <p:sldLayoutId id="2147483962" r:id="rId18"/>
    <p:sldLayoutId id="2147483963" r:id="rId19"/>
    <p:sldLayoutId id="2147483964" r:id="rId20"/>
    <p:sldLayoutId id="2147483965" r:id="rId21"/>
    <p:sldLayoutId id="2147483966" r:id="rId22"/>
    <p:sldLayoutId id="2147483967" r:id="rId23"/>
    <p:sldLayoutId id="2147483968" r:id="rId24"/>
    <p:sldLayoutId id="2147483969" r:id="rId25"/>
    <p:sldLayoutId id="2147483970" r:id="rId26"/>
    <p:sldLayoutId id="2147483971" r:id="rId27"/>
    <p:sldLayoutId id="2147483649" r:id="rId28"/>
    <p:sldLayoutId id="2147483651" r:id="rId2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163A507-BB16-5A5C-F116-F21B6B69497C}"/>
              </a:ext>
            </a:extLst>
          </p:cNvPr>
          <p:cNvCxnSpPr>
            <a:cxnSpLocks/>
          </p:cNvCxnSpPr>
          <p:nvPr/>
        </p:nvCxnSpPr>
        <p:spPr>
          <a:xfrm>
            <a:off x="282481" y="1142992"/>
            <a:ext cx="11265506" cy="0"/>
          </a:xfrm>
          <a:prstGeom prst="line">
            <a:avLst/>
          </a:prstGeom>
          <a:ln>
            <a:solidFill>
              <a:srgbClr val="FF6E4A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FC88B7B-74B8-8276-C09E-12F4D95C63A2}"/>
              </a:ext>
            </a:extLst>
          </p:cNvPr>
          <p:cNvSpPr txBox="1"/>
          <p:nvPr/>
        </p:nvSpPr>
        <p:spPr>
          <a:xfrm>
            <a:off x="321061" y="297175"/>
            <a:ext cx="10445262" cy="830997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r>
              <a:rPr lang="es-ES" sz="2400" b="1" dirty="0">
                <a:latin typeface="Segoe UI"/>
                <a:ea typeface="+mj-lt"/>
                <a:cs typeface="Segoe UI"/>
              </a:rPr>
              <a:t>  KFC vs. Sector </a:t>
            </a:r>
          </a:p>
          <a:p>
            <a:r>
              <a:rPr lang="es-ES" sz="2400" dirty="0">
                <a:latin typeface="Segoe UI"/>
                <a:ea typeface="+mj-lt"/>
                <a:cs typeface="Segoe UI"/>
              </a:rPr>
              <a:t>¿Dónde se sitúa frente a la competencia?</a:t>
            </a:r>
            <a:endParaRPr lang="en-US" sz="24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9A110B6-A33C-DE44-6A0E-A22244494CCD}"/>
              </a:ext>
            </a:extLst>
          </p:cNvPr>
          <p:cNvGrpSpPr/>
          <p:nvPr/>
        </p:nvGrpSpPr>
        <p:grpSpPr>
          <a:xfrm>
            <a:off x="218013" y="1398339"/>
            <a:ext cx="6005807" cy="2030661"/>
            <a:chOff x="7158223" y="2139900"/>
            <a:chExt cx="8697917" cy="775259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8EF9A7AC-E285-52F5-4494-F2B713A06273}"/>
                </a:ext>
              </a:extLst>
            </p:cNvPr>
            <p:cNvSpPr/>
            <p:nvPr/>
          </p:nvSpPr>
          <p:spPr>
            <a:xfrm>
              <a:off x="7158223" y="2139900"/>
              <a:ext cx="8697917" cy="775259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2400" b="1" dirty="0">
                  <a:solidFill>
                    <a:srgbClr val="006EBD"/>
                  </a:solidFill>
                </a:rPr>
                <a:t> Modelo:</a:t>
              </a:r>
            </a:p>
            <a:p>
              <a:r>
                <a:rPr lang="en-US" sz="2000" b="1" dirty="0">
                  <a:solidFill>
                    <a:schemeClr val="tx1"/>
                  </a:solidFill>
                </a:rPr>
                <a:t> </a:t>
              </a:r>
              <a:r>
                <a:rPr lang="en-US" sz="2000" b="1" dirty="0" err="1">
                  <a:solidFill>
                    <a:schemeClr val="tx1"/>
                  </a:solidFill>
                </a:rPr>
                <a:t>DistilBERT</a:t>
              </a:r>
              <a:r>
                <a:rPr lang="en-US" dirty="0"/>
                <a:t>: Para el control de </a:t>
              </a:r>
              <a:r>
                <a:rPr lang="en-US" dirty="0" err="1"/>
                <a:t>calidad</a:t>
              </a:r>
              <a:r>
                <a:rPr lang="en-US" dirty="0"/>
                <a:t> del </a:t>
              </a:r>
              <a:r>
                <a:rPr lang="en-US" dirty="0" err="1"/>
                <a:t>sentimiento</a:t>
              </a:r>
              <a:r>
                <a:rPr lang="en-US" dirty="0"/>
                <a:t> </a:t>
              </a:r>
              <a:r>
                <a:rPr lang="en-US" dirty="0" err="1"/>
                <a:t>en</a:t>
              </a:r>
              <a:r>
                <a:rPr lang="en-US" dirty="0"/>
                <a:t> Pros/Cons.</a:t>
              </a:r>
            </a:p>
            <a:p>
              <a:endParaRPr lang="en-US" dirty="0"/>
            </a:p>
            <a:p>
              <a:r>
                <a:rPr lang="en-US" sz="2000" b="1" dirty="0"/>
                <a:t> </a:t>
              </a:r>
              <a:r>
                <a:rPr lang="en-US" sz="2000" b="1" dirty="0" err="1"/>
                <a:t>BERTopic</a:t>
              </a:r>
              <a:r>
                <a:rPr lang="en-US" dirty="0"/>
                <a:t>: </a:t>
              </a:r>
              <a:r>
                <a:rPr lang="en-US" dirty="0" err="1"/>
                <a:t>Analizar</a:t>
              </a:r>
              <a:r>
                <a:rPr lang="en-US" dirty="0"/>
                <a:t> </a:t>
              </a:r>
              <a:r>
                <a:rPr lang="en-US" dirty="0" err="1"/>
                <a:t>los</a:t>
              </a:r>
              <a:r>
                <a:rPr lang="en-US" dirty="0"/>
                <a:t> topics de las </a:t>
              </a:r>
              <a:r>
                <a:rPr lang="en-US" dirty="0" err="1"/>
                <a:t>reseñas</a:t>
              </a:r>
              <a:r>
                <a:rPr lang="en-US" dirty="0"/>
                <a:t>.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063058FA-3EBD-8AF8-6A9C-928E8C4C4CCC}"/>
                </a:ext>
              </a:extLst>
            </p:cNvPr>
            <p:cNvSpPr/>
            <p:nvPr/>
          </p:nvSpPr>
          <p:spPr>
            <a:xfrm>
              <a:off x="7211499" y="2245684"/>
              <a:ext cx="72048" cy="56369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5F98388-9EC2-69E8-6ABF-EC380F3A4A3B}"/>
              </a:ext>
            </a:extLst>
          </p:cNvPr>
          <p:cNvGrpSpPr/>
          <p:nvPr/>
        </p:nvGrpSpPr>
        <p:grpSpPr>
          <a:xfrm>
            <a:off x="218013" y="4139661"/>
            <a:ext cx="6005807" cy="1824267"/>
            <a:chOff x="4605231" y="3078082"/>
            <a:chExt cx="8697917" cy="775259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F26EABB7-6EEB-9438-9763-C6DD294001A5}"/>
                </a:ext>
              </a:extLst>
            </p:cNvPr>
            <p:cNvSpPr/>
            <p:nvPr/>
          </p:nvSpPr>
          <p:spPr>
            <a:xfrm>
              <a:off x="4605231" y="3078082"/>
              <a:ext cx="8697917" cy="775259"/>
            </a:xfrm>
            <a:prstGeom prst="roundRect">
              <a:avLst/>
            </a:prstGeom>
            <a:solidFill>
              <a:srgbClr val="FFF3E7"/>
            </a:solidFill>
            <a:ln>
              <a:solidFill>
                <a:srgbClr val="D24726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2400" b="1" dirty="0">
                  <a:solidFill>
                    <a:srgbClr val="C00000"/>
                  </a:solidFill>
                </a:rPr>
                <a:t>Target/Peers</a:t>
              </a:r>
              <a:r>
                <a:rPr lang="en-US" dirty="0">
                  <a:solidFill>
                    <a:srgbClr val="C00000"/>
                  </a:solidFill>
                </a:rPr>
                <a:t>: </a:t>
              </a:r>
            </a:p>
            <a:p>
              <a:r>
                <a:rPr lang="en-US" b="1" dirty="0"/>
                <a:t>Target</a:t>
              </a:r>
              <a:r>
                <a:rPr lang="en-US" dirty="0"/>
                <a:t>: KFC </a:t>
              </a:r>
              <a:endParaRPr lang="en-US" b="1" dirty="0"/>
            </a:p>
            <a:p>
              <a:r>
                <a:rPr lang="en-US" b="1" dirty="0"/>
                <a:t>Peers</a:t>
              </a:r>
              <a:r>
                <a:rPr lang="en-US" dirty="0"/>
                <a:t>: McDonalds, Domino's, Starbucks, Subway</a:t>
              </a: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A1A3C1DB-9A72-2FA4-788D-3220E0F25DA4}"/>
                </a:ext>
              </a:extLst>
            </p:cNvPr>
            <p:cNvSpPr/>
            <p:nvPr/>
          </p:nvSpPr>
          <p:spPr>
            <a:xfrm>
              <a:off x="4659918" y="3183228"/>
              <a:ext cx="72048" cy="563690"/>
            </a:xfrm>
            <a:prstGeom prst="roundRect">
              <a:avLst/>
            </a:prstGeom>
            <a:solidFill>
              <a:srgbClr val="D24726"/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8E53C26-25C3-EF57-53D9-CBF7FEBB7DC6}"/>
              </a:ext>
            </a:extLst>
          </p:cNvPr>
          <p:cNvGrpSpPr/>
          <p:nvPr/>
        </p:nvGrpSpPr>
        <p:grpSpPr>
          <a:xfrm>
            <a:off x="6637619" y="1770256"/>
            <a:ext cx="4816242" cy="3943248"/>
            <a:chOff x="6527006" y="1457376"/>
            <a:chExt cx="4816242" cy="3943248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D9B2F0B-38DA-9AE6-C999-C7C7B8919252}"/>
                </a:ext>
              </a:extLst>
            </p:cNvPr>
            <p:cNvSpPr/>
            <p:nvPr/>
          </p:nvSpPr>
          <p:spPr>
            <a:xfrm>
              <a:off x="7551173" y="1457376"/>
              <a:ext cx="1238865" cy="1150371"/>
            </a:xfrm>
            <a:prstGeom prst="ellipse">
              <a:avLst/>
            </a:prstGeom>
            <a:solidFill>
              <a:srgbClr val="D24726"/>
            </a:solidFill>
            <a:ln>
              <a:solidFill>
                <a:srgbClr val="006EB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KFC</a:t>
              </a:r>
              <a:endParaRPr lang="en-US" b="1" dirty="0"/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AE2C2D7C-275B-200A-BB04-BAFBFB55172A}"/>
                </a:ext>
              </a:extLst>
            </p:cNvPr>
            <p:cNvGrpSpPr/>
            <p:nvPr/>
          </p:nvGrpSpPr>
          <p:grpSpPr>
            <a:xfrm>
              <a:off x="8790038" y="1457376"/>
              <a:ext cx="2553210" cy="1209363"/>
              <a:chOff x="8790038" y="1457376"/>
              <a:chExt cx="2553210" cy="1209363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08816974-F5AC-D8A3-7F79-6F006702F43E}"/>
                  </a:ext>
                </a:extLst>
              </p:cNvPr>
              <p:cNvSpPr/>
              <p:nvPr/>
            </p:nvSpPr>
            <p:spPr>
              <a:xfrm>
                <a:off x="9699648" y="1457376"/>
                <a:ext cx="1643600" cy="1209363"/>
              </a:xfrm>
              <a:prstGeom prst="ellipse">
                <a:avLst/>
              </a:prstGeom>
              <a:solidFill>
                <a:srgbClr val="006EBD"/>
              </a:solidFill>
              <a:ln>
                <a:solidFill>
                  <a:srgbClr val="D2472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/>
                  <a:t>Starbucks</a:t>
                </a:r>
                <a:endParaRPr lang="en-US" sz="1400" b="1" dirty="0"/>
              </a:p>
            </p:txBody>
          </p: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2C57B89E-DE83-8047-E90E-49F083881429}"/>
                  </a:ext>
                </a:extLst>
              </p:cNvPr>
              <p:cNvCxnSpPr>
                <a:stCxn id="24" idx="6"/>
                <a:endCxn id="30" idx="2"/>
              </p:cNvCxnSpPr>
              <p:nvPr/>
            </p:nvCxnSpPr>
            <p:spPr>
              <a:xfrm>
                <a:off x="8790038" y="2032562"/>
                <a:ext cx="909610" cy="29496"/>
              </a:xfrm>
              <a:prstGeom prst="line">
                <a:avLst/>
              </a:prstGeom>
              <a:ln w="19050" cap="flat" cmpd="sng" algn="ctr">
                <a:solidFill>
                  <a:schemeClr val="accent6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7B5B5EC1-3710-6FCF-DE7F-40B95876C199}"/>
                </a:ext>
              </a:extLst>
            </p:cNvPr>
            <p:cNvGrpSpPr/>
            <p:nvPr/>
          </p:nvGrpSpPr>
          <p:grpSpPr>
            <a:xfrm>
              <a:off x="8640840" y="2423241"/>
              <a:ext cx="2702408" cy="1842596"/>
              <a:chOff x="8640840" y="2423241"/>
              <a:chExt cx="2702408" cy="1842596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8D457D94-0F88-B00F-CDC4-7DA6B6D65439}"/>
                  </a:ext>
                </a:extLst>
              </p:cNvPr>
              <p:cNvSpPr/>
              <p:nvPr/>
            </p:nvSpPr>
            <p:spPr>
              <a:xfrm>
                <a:off x="9699648" y="3056474"/>
                <a:ext cx="1643600" cy="1209363"/>
              </a:xfrm>
              <a:prstGeom prst="ellipse">
                <a:avLst/>
              </a:prstGeom>
              <a:solidFill>
                <a:srgbClr val="006EBD"/>
              </a:solidFill>
              <a:ln>
                <a:solidFill>
                  <a:srgbClr val="D2472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McDonalds</a:t>
                </a:r>
                <a:endParaRPr lang="en-US" sz="1400" b="1" dirty="0"/>
              </a:p>
            </p:txBody>
          </p: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27FF263C-BA58-D2EC-8817-B84E955400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40840" y="2423241"/>
                <a:ext cx="1159463" cy="961515"/>
              </a:xfrm>
              <a:prstGeom prst="line">
                <a:avLst/>
              </a:prstGeom>
              <a:ln w="19050" cap="flat" cmpd="sng" algn="ctr">
                <a:solidFill>
                  <a:schemeClr val="accent6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61632965-0594-7D3E-BF69-8EA1BD9B3A7A}"/>
                </a:ext>
              </a:extLst>
            </p:cNvPr>
            <p:cNvGrpSpPr/>
            <p:nvPr/>
          </p:nvGrpSpPr>
          <p:grpSpPr>
            <a:xfrm>
              <a:off x="8273845" y="2607747"/>
              <a:ext cx="1643600" cy="2792877"/>
              <a:chOff x="8273845" y="2607747"/>
              <a:chExt cx="1643600" cy="2792877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CC1CDA13-93C8-359A-2596-EEB10FC12D1E}"/>
                  </a:ext>
                </a:extLst>
              </p:cNvPr>
              <p:cNvSpPr/>
              <p:nvPr/>
            </p:nvSpPr>
            <p:spPr>
              <a:xfrm>
                <a:off x="8273845" y="4191261"/>
                <a:ext cx="1643600" cy="1209363"/>
              </a:xfrm>
              <a:prstGeom prst="ellipse">
                <a:avLst/>
              </a:prstGeom>
              <a:solidFill>
                <a:srgbClr val="006EBD"/>
              </a:solidFill>
              <a:ln>
                <a:solidFill>
                  <a:srgbClr val="D2472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Subway</a:t>
                </a:r>
                <a:endParaRPr lang="en-US" sz="1400" b="1" dirty="0"/>
              </a:p>
            </p:txBody>
          </p: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EF43AE98-FBD2-3891-565A-2A72E128F0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40213" y="2607747"/>
                <a:ext cx="589689" cy="1531914"/>
              </a:xfrm>
              <a:prstGeom prst="line">
                <a:avLst/>
              </a:prstGeom>
              <a:ln w="19050" cap="flat" cmpd="sng" algn="ctr">
                <a:solidFill>
                  <a:schemeClr val="accent6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7FF15B11-B39E-90BB-0645-621296589584}"/>
                </a:ext>
              </a:extLst>
            </p:cNvPr>
            <p:cNvGrpSpPr/>
            <p:nvPr/>
          </p:nvGrpSpPr>
          <p:grpSpPr>
            <a:xfrm>
              <a:off x="6527006" y="2454937"/>
              <a:ext cx="1643600" cy="2032964"/>
              <a:chOff x="6527006" y="2454937"/>
              <a:chExt cx="1643600" cy="2032964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8F3B62ED-A3D8-068D-C60E-B5D1632DF350}"/>
                  </a:ext>
                </a:extLst>
              </p:cNvPr>
              <p:cNvSpPr/>
              <p:nvPr/>
            </p:nvSpPr>
            <p:spPr>
              <a:xfrm>
                <a:off x="6527006" y="3278538"/>
                <a:ext cx="1643600" cy="1209363"/>
              </a:xfrm>
              <a:prstGeom prst="ellipse">
                <a:avLst/>
              </a:prstGeom>
              <a:solidFill>
                <a:srgbClr val="006EBD"/>
              </a:solidFill>
              <a:ln>
                <a:solidFill>
                  <a:srgbClr val="D2472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Domino's</a:t>
                </a:r>
                <a:endParaRPr lang="en-US" sz="1400" b="1" dirty="0"/>
              </a:p>
            </p:txBody>
          </p: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2C47DB6C-B951-0C3A-2477-9B088840B4E8}"/>
                  </a:ext>
                </a:extLst>
              </p:cNvPr>
              <p:cNvCxnSpPr>
                <a:cxnSpLocks/>
                <a:stCxn id="28" idx="0"/>
              </p:cNvCxnSpPr>
              <p:nvPr/>
            </p:nvCxnSpPr>
            <p:spPr>
              <a:xfrm flipV="1">
                <a:off x="7348806" y="2454937"/>
                <a:ext cx="388015" cy="823601"/>
              </a:xfrm>
              <a:prstGeom prst="line">
                <a:avLst/>
              </a:prstGeom>
              <a:ln w="19050" cap="flat" cmpd="sng" algn="ctr">
                <a:solidFill>
                  <a:schemeClr val="accent6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963144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663792C-5CF2-DD67-2D7A-ACF5F33DE565}"/>
              </a:ext>
            </a:extLst>
          </p:cNvPr>
          <p:cNvCxnSpPr>
            <a:cxnSpLocks/>
          </p:cNvCxnSpPr>
          <p:nvPr/>
        </p:nvCxnSpPr>
        <p:spPr>
          <a:xfrm>
            <a:off x="282481" y="1142992"/>
            <a:ext cx="11265506" cy="0"/>
          </a:xfrm>
          <a:prstGeom prst="line">
            <a:avLst/>
          </a:prstGeom>
          <a:ln>
            <a:solidFill>
              <a:srgbClr val="FF6E4A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569E7D8-6E6D-BA01-4AB7-12EC6203E6C4}"/>
              </a:ext>
            </a:extLst>
          </p:cNvPr>
          <p:cNvSpPr txBox="1"/>
          <p:nvPr/>
        </p:nvSpPr>
        <p:spPr>
          <a:xfrm>
            <a:off x="282481" y="606891"/>
            <a:ext cx="5380900" cy="461665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r>
              <a:rPr lang="es-ES" sz="2400" b="1" dirty="0">
                <a:latin typeface="Segoe UI"/>
                <a:ea typeface="+mj-lt"/>
                <a:cs typeface="Segoe UI"/>
              </a:rPr>
              <a:t>  Muestra y estructura de los datos</a:t>
            </a:r>
            <a:endParaRPr lang="en-US" sz="24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BA8C2F-F88A-133B-0FA1-3C3A9E1EA2C3}"/>
              </a:ext>
            </a:extLst>
          </p:cNvPr>
          <p:cNvGrpSpPr/>
          <p:nvPr/>
        </p:nvGrpSpPr>
        <p:grpSpPr>
          <a:xfrm>
            <a:off x="4957077" y="1398254"/>
            <a:ext cx="6590909" cy="1824267"/>
            <a:chOff x="4605231" y="3078082"/>
            <a:chExt cx="8697917" cy="775259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5F3034B1-CE15-9E37-6EFF-07D1F7D1825B}"/>
                </a:ext>
              </a:extLst>
            </p:cNvPr>
            <p:cNvSpPr/>
            <p:nvPr/>
          </p:nvSpPr>
          <p:spPr>
            <a:xfrm>
              <a:off x="4605231" y="3078082"/>
              <a:ext cx="8697917" cy="775259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2400" b="1" dirty="0" err="1">
                  <a:solidFill>
                    <a:srgbClr val="006EBD"/>
                  </a:solidFill>
                </a:rPr>
                <a:t>Objetivos</a:t>
              </a:r>
              <a:r>
                <a:rPr lang="en-US" dirty="0"/>
                <a:t>: </a:t>
              </a:r>
            </a:p>
            <a:p>
              <a:r>
                <a:rPr lang="en-US" dirty="0" err="1"/>
                <a:t>Identificar</a:t>
              </a:r>
              <a:r>
                <a:rPr lang="en-US" dirty="0"/>
                <a:t> las </a:t>
              </a:r>
              <a:r>
                <a:rPr lang="en-US" dirty="0" err="1"/>
                <a:t>fortalezas</a:t>
              </a:r>
              <a:r>
                <a:rPr lang="en-US" dirty="0"/>
                <a:t> y </a:t>
              </a:r>
              <a:r>
                <a:rPr lang="en-US" dirty="0" err="1"/>
                <a:t>áreas</a:t>
              </a:r>
              <a:r>
                <a:rPr lang="en-US" dirty="0"/>
                <a:t> de </a:t>
              </a:r>
              <a:r>
                <a:rPr lang="en-US" dirty="0" err="1"/>
                <a:t>mejora</a:t>
              </a:r>
              <a:r>
                <a:rPr lang="en-US" dirty="0"/>
                <a:t> de </a:t>
              </a:r>
              <a:r>
                <a:rPr lang="en-US" b="1" dirty="0">
                  <a:solidFill>
                    <a:srgbClr val="C00000"/>
                  </a:solidFill>
                </a:rPr>
                <a:t>KFC</a:t>
              </a:r>
              <a:r>
                <a:rPr lang="en-US" dirty="0"/>
                <a:t> </a:t>
              </a:r>
              <a:r>
                <a:rPr lang="en-US" dirty="0" err="1"/>
                <a:t>como</a:t>
              </a:r>
              <a:r>
                <a:rPr lang="en-US" dirty="0"/>
                <a:t> </a:t>
              </a:r>
              <a:r>
                <a:rPr lang="en-US" dirty="0" err="1"/>
                <a:t>empleador</a:t>
              </a:r>
              <a:r>
                <a:rPr lang="en-US" dirty="0"/>
                <a:t> a </a:t>
              </a:r>
              <a:r>
                <a:rPr lang="en-US" dirty="0" err="1"/>
                <a:t>partir</a:t>
              </a:r>
              <a:r>
                <a:rPr lang="en-US" dirty="0"/>
                <a:t> de las </a:t>
              </a:r>
              <a:r>
                <a:rPr lang="en-US" dirty="0" err="1"/>
                <a:t>opiniones</a:t>
              </a:r>
              <a:r>
                <a:rPr lang="en-US" dirty="0"/>
                <a:t> de sus </a:t>
              </a:r>
              <a:r>
                <a:rPr lang="en-US" dirty="0" err="1"/>
                <a:t>trabajadores</a:t>
              </a:r>
              <a:r>
                <a:rPr lang="en-US" dirty="0"/>
                <a:t> </a:t>
              </a:r>
              <a:r>
                <a:rPr lang="en-US" dirty="0" err="1"/>
                <a:t>en</a:t>
              </a:r>
              <a:r>
                <a:rPr lang="en-US" dirty="0"/>
                <a:t> Glassdoor.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D1F6C22B-A041-5FB4-8E38-7F9986D9BD3C}"/>
                </a:ext>
              </a:extLst>
            </p:cNvPr>
            <p:cNvSpPr/>
            <p:nvPr/>
          </p:nvSpPr>
          <p:spPr>
            <a:xfrm>
              <a:off x="4659918" y="3183228"/>
              <a:ext cx="72048" cy="56369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D551C4D-6D8F-2459-A3DA-45B378F38FC3}"/>
              </a:ext>
            </a:extLst>
          </p:cNvPr>
          <p:cNvGrpSpPr/>
          <p:nvPr/>
        </p:nvGrpSpPr>
        <p:grpSpPr>
          <a:xfrm>
            <a:off x="4987217" y="3448450"/>
            <a:ext cx="6634512" cy="2266555"/>
            <a:chOff x="-807749" y="632455"/>
            <a:chExt cx="10379667" cy="1575104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C91049A4-4B40-0C22-06F1-CAECDF0584B3}"/>
                </a:ext>
              </a:extLst>
            </p:cNvPr>
            <p:cNvSpPr>
              <a:spLocks/>
            </p:cNvSpPr>
            <p:nvPr/>
          </p:nvSpPr>
          <p:spPr>
            <a:xfrm>
              <a:off x="-807749" y="632455"/>
              <a:ext cx="10379667" cy="1575104"/>
            </a:xfrm>
            <a:prstGeom prst="roundRect">
              <a:avLst/>
            </a:prstGeom>
            <a:solidFill>
              <a:srgbClr val="FFF3E7"/>
            </a:solidFill>
            <a:ln>
              <a:solidFill>
                <a:srgbClr val="D24726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2400" b="1" dirty="0" err="1">
                  <a:solidFill>
                    <a:srgbClr val="C00000"/>
                  </a:solidFill>
                </a:rPr>
                <a:t>Preparación</a:t>
              </a:r>
              <a:r>
                <a:rPr lang="en-US" b="1" dirty="0">
                  <a:solidFill>
                    <a:srgbClr val="C00000"/>
                  </a:solidFill>
                </a:rPr>
                <a:t> </a:t>
              </a:r>
              <a:r>
                <a:rPr lang="en-US" dirty="0"/>
                <a:t>: </a:t>
              </a:r>
            </a:p>
            <a:p>
              <a:r>
                <a:rPr lang="en-US" sz="1600" b="1" dirty="0"/>
                <a:t>Nuevas variables</a:t>
              </a:r>
              <a:r>
                <a:rPr lang="en-US" sz="1600" dirty="0"/>
                <a:t>: </a:t>
              </a:r>
              <a:r>
                <a:rPr lang="en-US" sz="1600" dirty="0" err="1"/>
                <a:t>tipo_empleado</a:t>
              </a:r>
              <a:r>
                <a:rPr lang="en-US" sz="1600" dirty="0"/>
                <a:t>(Actual/Antiguo), </a:t>
              </a:r>
              <a:r>
                <a:rPr lang="en-US" sz="1600" dirty="0" err="1"/>
                <a:t>antiguedada</a:t>
              </a:r>
              <a:r>
                <a:rPr lang="en-US" sz="1600" dirty="0"/>
                <a:t>(#años), </a:t>
              </a:r>
              <a:r>
                <a:rPr lang="en-US" sz="1600" dirty="0" err="1"/>
                <a:t>recomendacion</a:t>
              </a:r>
              <a:r>
                <a:rPr lang="en-US" sz="1600" dirty="0"/>
                <a:t>(Si/No)</a:t>
              </a:r>
            </a:p>
            <a:p>
              <a:r>
                <a:rPr lang="en-US" sz="1600" b="1" dirty="0" err="1"/>
                <a:t>Limpieza</a:t>
              </a:r>
              <a:r>
                <a:rPr lang="en-US" sz="1600" b="1" dirty="0"/>
                <a:t> de </a:t>
              </a:r>
              <a:r>
                <a:rPr lang="en-US" sz="1600" b="1" dirty="0" err="1"/>
                <a:t>datos</a:t>
              </a:r>
              <a:r>
                <a:rPr lang="en-US" sz="1600" dirty="0"/>
                <a:t>: </a:t>
              </a:r>
              <a:r>
                <a:rPr lang="en-US" sz="1600" dirty="0" err="1"/>
                <a:t>Procesamiento</a:t>
              </a:r>
              <a:r>
                <a:rPr lang="en-US" sz="1600" dirty="0"/>
                <a:t> de Pros y Cons para </a:t>
              </a:r>
              <a:r>
                <a:rPr lang="en-US" sz="1600" dirty="0" err="1"/>
                <a:t>limpiar</a:t>
              </a:r>
              <a:r>
                <a:rPr lang="en-US" sz="1600" dirty="0"/>
                <a:t> </a:t>
              </a:r>
              <a:r>
                <a:rPr lang="en-US" sz="1600" dirty="0" err="1"/>
                <a:t>los</a:t>
              </a:r>
              <a:r>
                <a:rPr lang="en-US" sz="1600" dirty="0"/>
                <a:t> </a:t>
              </a:r>
              <a:r>
                <a:rPr lang="en-US" sz="1600" dirty="0" err="1"/>
                <a:t>textos</a:t>
              </a:r>
              <a:r>
                <a:rPr lang="en-US" sz="1600" dirty="0"/>
                <a:t> de null, </a:t>
              </a:r>
              <a:r>
                <a:rPr lang="en-US" sz="1600" dirty="0" err="1"/>
                <a:t>caracteres</a:t>
              </a:r>
              <a:r>
                <a:rPr lang="en-US" sz="1600" dirty="0"/>
                <a:t> </a:t>
              </a:r>
              <a:r>
                <a:rPr lang="en-US" sz="1600" dirty="0" err="1"/>
                <a:t>extraños</a:t>
              </a:r>
              <a:r>
                <a:rPr lang="en-US" sz="1600" dirty="0"/>
                <a:t>, etc.</a:t>
              </a:r>
              <a:endParaRPr lang="en-US" dirty="0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0EE55404-9EDC-1DEC-17BA-C36E852D4E00}"/>
                </a:ext>
              </a:extLst>
            </p:cNvPr>
            <p:cNvSpPr/>
            <p:nvPr/>
          </p:nvSpPr>
          <p:spPr>
            <a:xfrm>
              <a:off x="-711900" y="935522"/>
              <a:ext cx="71527" cy="968970"/>
            </a:xfrm>
            <a:prstGeom prst="roundRect">
              <a:avLst/>
            </a:prstGeom>
            <a:solidFill>
              <a:srgbClr val="D24726"/>
            </a:solidFill>
            <a:ln>
              <a:solidFill>
                <a:srgbClr val="D24726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59339F11-B8A1-D0E7-C6B4-88BDEB11CC1B}"/>
              </a:ext>
            </a:extLst>
          </p:cNvPr>
          <p:cNvSpPr/>
          <p:nvPr/>
        </p:nvSpPr>
        <p:spPr>
          <a:xfrm>
            <a:off x="342598" y="1267043"/>
            <a:ext cx="1112502" cy="1070771"/>
          </a:xfrm>
          <a:prstGeom prst="ellipse">
            <a:avLst/>
          </a:prstGeom>
          <a:solidFill>
            <a:srgbClr val="D24726"/>
          </a:solidFill>
          <a:ln>
            <a:solidFill>
              <a:srgbClr val="006E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KFC</a:t>
            </a:r>
          </a:p>
          <a:p>
            <a:pPr algn="ctr"/>
            <a:r>
              <a:rPr lang="en-US" sz="1400" b="1" dirty="0"/>
              <a:t>(2.000)</a:t>
            </a:r>
            <a:endParaRPr lang="en-US" sz="1600" b="1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F3D9E5A-8C77-ACFE-D8E5-FEDC7C0C6DB8}"/>
              </a:ext>
            </a:extLst>
          </p:cNvPr>
          <p:cNvSpPr/>
          <p:nvPr/>
        </p:nvSpPr>
        <p:spPr>
          <a:xfrm>
            <a:off x="975161" y="2883508"/>
            <a:ext cx="1475953" cy="1125681"/>
          </a:xfrm>
          <a:prstGeom prst="ellipse">
            <a:avLst/>
          </a:prstGeom>
          <a:solidFill>
            <a:srgbClr val="006EBD"/>
          </a:solidFill>
          <a:ln>
            <a:solidFill>
              <a:srgbClr val="D24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10.000 </a:t>
            </a:r>
            <a:r>
              <a:rPr lang="en-US" sz="1600" b="1" dirty="0" err="1"/>
              <a:t>reseñas</a:t>
            </a:r>
            <a:endParaRPr lang="en-US" sz="1600" b="1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F6CCF09-FFC5-0D03-7F54-345FDFDE8DCF}"/>
              </a:ext>
            </a:extLst>
          </p:cNvPr>
          <p:cNvCxnSpPr>
            <a:cxnSpLocks/>
          </p:cNvCxnSpPr>
          <p:nvPr/>
        </p:nvCxnSpPr>
        <p:spPr>
          <a:xfrm>
            <a:off x="1045079" y="2337814"/>
            <a:ext cx="274725" cy="634283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C31A762-283B-161B-9E6B-735D5A4C32CD}"/>
              </a:ext>
            </a:extLst>
          </p:cNvPr>
          <p:cNvGrpSpPr/>
          <p:nvPr/>
        </p:nvGrpSpPr>
        <p:grpSpPr>
          <a:xfrm>
            <a:off x="2450843" y="3438611"/>
            <a:ext cx="2284993" cy="1125681"/>
            <a:chOff x="8941665" y="3056474"/>
            <a:chExt cx="2453013" cy="1209363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9E114112-4F02-ABED-EC68-D8B7A11A987F}"/>
                </a:ext>
              </a:extLst>
            </p:cNvPr>
            <p:cNvSpPr/>
            <p:nvPr/>
          </p:nvSpPr>
          <p:spPr>
            <a:xfrm>
              <a:off x="9699647" y="3056474"/>
              <a:ext cx="1695031" cy="1209363"/>
            </a:xfrm>
            <a:prstGeom prst="ellipse">
              <a:avLst/>
            </a:prstGeom>
            <a:solidFill>
              <a:srgbClr val="006EBD"/>
            </a:solidFill>
            <a:ln>
              <a:solidFill>
                <a:srgbClr val="006EB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McDonalds</a:t>
              </a:r>
            </a:p>
            <a:p>
              <a:pPr algn="ctr"/>
              <a:r>
                <a:rPr lang="en-US" sz="1600" b="1" dirty="0"/>
                <a:t>(2.000)</a:t>
              </a:r>
              <a:endParaRPr lang="en-US" sz="1400" b="1" dirty="0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99192AD-FC07-C040-BD13-C1EC3FB20D29}"/>
                </a:ext>
              </a:extLst>
            </p:cNvPr>
            <p:cNvCxnSpPr>
              <a:cxnSpLocks/>
            </p:cNvCxnSpPr>
            <p:nvPr/>
          </p:nvCxnSpPr>
          <p:spPr>
            <a:xfrm>
              <a:off x="8941665" y="3214511"/>
              <a:ext cx="815593" cy="249614"/>
            </a:xfrm>
            <a:prstGeom prst="line">
              <a:avLst/>
            </a:prstGeom>
            <a:ln w="19050" cap="flat" cmpd="sng" algn="ctr">
              <a:solidFill>
                <a:srgbClr val="006EBD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8984C82-0379-38E1-6B4B-33A86AE915E0}"/>
              </a:ext>
            </a:extLst>
          </p:cNvPr>
          <p:cNvGrpSpPr/>
          <p:nvPr/>
        </p:nvGrpSpPr>
        <p:grpSpPr>
          <a:xfrm>
            <a:off x="2027806" y="3912595"/>
            <a:ext cx="1830454" cy="2368770"/>
            <a:chOff x="7879079" y="2855763"/>
            <a:chExt cx="2038366" cy="2544861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22770C5C-C50B-5A04-3245-E37158F7A88C}"/>
                </a:ext>
              </a:extLst>
            </p:cNvPr>
            <p:cNvSpPr/>
            <p:nvPr/>
          </p:nvSpPr>
          <p:spPr>
            <a:xfrm>
              <a:off x="8273845" y="4191261"/>
              <a:ext cx="1643600" cy="1209363"/>
            </a:xfrm>
            <a:prstGeom prst="ellipse">
              <a:avLst/>
            </a:prstGeom>
            <a:solidFill>
              <a:srgbClr val="006EBD"/>
            </a:solidFill>
            <a:ln>
              <a:solidFill>
                <a:srgbClr val="006EB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Subway</a:t>
              </a:r>
            </a:p>
            <a:p>
              <a:pPr algn="ctr"/>
              <a:r>
                <a:rPr lang="en-US" sz="1600" b="1" dirty="0"/>
                <a:t>(2.000)</a:t>
              </a:r>
              <a:endParaRPr lang="en-US" sz="1400" b="1" dirty="0"/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833646D-F2ED-3918-C0ED-0D05EF5B5673}"/>
                </a:ext>
              </a:extLst>
            </p:cNvPr>
            <p:cNvCxnSpPr>
              <a:cxnSpLocks/>
            </p:cNvCxnSpPr>
            <p:nvPr/>
          </p:nvCxnSpPr>
          <p:spPr>
            <a:xfrm>
              <a:off x="7879079" y="2855763"/>
              <a:ext cx="1050823" cy="1283898"/>
            </a:xfrm>
            <a:prstGeom prst="line">
              <a:avLst/>
            </a:prstGeom>
            <a:ln w="19050" cap="flat" cmpd="sng" algn="ctr">
              <a:solidFill>
                <a:srgbClr val="006EBD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D3D0834-CCD5-4F1D-0E9B-DCD251D16C5C}"/>
              </a:ext>
            </a:extLst>
          </p:cNvPr>
          <p:cNvGrpSpPr/>
          <p:nvPr/>
        </p:nvGrpSpPr>
        <p:grpSpPr>
          <a:xfrm>
            <a:off x="160872" y="3844337"/>
            <a:ext cx="1475954" cy="2066062"/>
            <a:chOff x="6505963" y="1777064"/>
            <a:chExt cx="1643600" cy="2219649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4C1501D-A0D9-4465-E13A-B9A1CCE9BE59}"/>
                </a:ext>
              </a:extLst>
            </p:cNvPr>
            <p:cNvSpPr/>
            <p:nvPr/>
          </p:nvSpPr>
          <p:spPr>
            <a:xfrm>
              <a:off x="6505963" y="2787350"/>
              <a:ext cx="1643600" cy="1209363"/>
            </a:xfrm>
            <a:prstGeom prst="ellipse">
              <a:avLst/>
            </a:prstGeom>
            <a:solidFill>
              <a:srgbClr val="006EBD"/>
            </a:solidFill>
            <a:ln>
              <a:solidFill>
                <a:srgbClr val="006EB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Domino’s</a:t>
              </a:r>
            </a:p>
            <a:p>
              <a:pPr algn="ctr"/>
              <a:r>
                <a:rPr lang="en-US" sz="1600" b="1" dirty="0"/>
                <a:t>(2.000)</a:t>
              </a:r>
              <a:endParaRPr lang="en-US" sz="1400" b="1" dirty="0"/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91874F-3710-9403-2E7C-E512F6CADD13}"/>
                </a:ext>
              </a:extLst>
            </p:cNvPr>
            <p:cNvCxnSpPr>
              <a:cxnSpLocks/>
              <a:stCxn id="22" idx="0"/>
              <a:endCxn id="28" idx="3"/>
            </p:cNvCxnSpPr>
            <p:nvPr/>
          </p:nvCxnSpPr>
          <p:spPr>
            <a:xfrm flipV="1">
              <a:off x="7327763" y="1777064"/>
              <a:ext cx="325679" cy="1010286"/>
            </a:xfrm>
            <a:prstGeom prst="line">
              <a:avLst/>
            </a:prstGeom>
            <a:ln w="19050" cap="flat" cmpd="sng" algn="ctr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31" name="Oval 30">
            <a:extLst>
              <a:ext uri="{FF2B5EF4-FFF2-40B4-BE49-F238E27FC236}">
                <a16:creationId xmlns:a16="http://schemas.microsoft.com/office/drawing/2014/main" id="{8F18853F-EAEC-DAC2-43E0-5E7E2143B123}"/>
              </a:ext>
            </a:extLst>
          </p:cNvPr>
          <p:cNvSpPr/>
          <p:nvPr/>
        </p:nvSpPr>
        <p:spPr>
          <a:xfrm>
            <a:off x="3117384" y="1601494"/>
            <a:ext cx="1475954" cy="1125682"/>
          </a:xfrm>
          <a:prstGeom prst="ellipse">
            <a:avLst/>
          </a:prstGeom>
          <a:solidFill>
            <a:srgbClr val="006EBD"/>
          </a:solidFill>
          <a:ln>
            <a:solidFill>
              <a:srgbClr val="006E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Starbucks</a:t>
            </a:r>
          </a:p>
          <a:p>
            <a:pPr algn="ctr"/>
            <a:r>
              <a:rPr lang="en-US" sz="1600" b="1" dirty="0"/>
              <a:t>(2.000)</a:t>
            </a:r>
            <a:endParaRPr lang="en-US" sz="1400" b="1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5A2A63D-F1B4-F781-FD8B-0694DA9D369B}"/>
              </a:ext>
            </a:extLst>
          </p:cNvPr>
          <p:cNvCxnSpPr>
            <a:cxnSpLocks/>
          </p:cNvCxnSpPr>
          <p:nvPr/>
        </p:nvCxnSpPr>
        <p:spPr>
          <a:xfrm flipV="1">
            <a:off x="2334881" y="2442961"/>
            <a:ext cx="848366" cy="562183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6745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4E6ED28-05EE-6A2C-9A67-209CCDB11B5E}"/>
              </a:ext>
            </a:extLst>
          </p:cNvPr>
          <p:cNvCxnSpPr>
            <a:cxnSpLocks/>
          </p:cNvCxnSpPr>
          <p:nvPr/>
        </p:nvCxnSpPr>
        <p:spPr>
          <a:xfrm>
            <a:off x="282481" y="1142992"/>
            <a:ext cx="11265506" cy="0"/>
          </a:xfrm>
          <a:prstGeom prst="line">
            <a:avLst/>
          </a:prstGeom>
          <a:ln>
            <a:solidFill>
              <a:srgbClr val="FF6E4A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3B910F6-4F43-E1F4-5438-A230AC86D6C2}"/>
              </a:ext>
            </a:extLst>
          </p:cNvPr>
          <p:cNvSpPr txBox="1"/>
          <p:nvPr/>
        </p:nvSpPr>
        <p:spPr>
          <a:xfrm>
            <a:off x="121958" y="570714"/>
            <a:ext cx="5711029" cy="461665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r>
              <a:rPr lang="es-ES" sz="2400" b="1" dirty="0">
                <a:latin typeface="Segoe UI"/>
                <a:ea typeface="+mj-lt"/>
                <a:cs typeface="Segoe UI"/>
              </a:rPr>
              <a:t>  EDA</a:t>
            </a:r>
            <a:endParaRPr lang="en-US" sz="24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032249D-3DA8-BCB6-02F6-1D2EBC553A47}"/>
              </a:ext>
            </a:extLst>
          </p:cNvPr>
          <p:cNvGrpSpPr/>
          <p:nvPr/>
        </p:nvGrpSpPr>
        <p:grpSpPr>
          <a:xfrm>
            <a:off x="306204" y="2074236"/>
            <a:ext cx="11265506" cy="921774"/>
            <a:chOff x="4530016" y="2094265"/>
            <a:chExt cx="8697917" cy="60971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2B7AF1A0-9D70-AA53-8A05-7DA901B52837}"/>
                </a:ext>
              </a:extLst>
            </p:cNvPr>
            <p:cNvSpPr/>
            <p:nvPr/>
          </p:nvSpPr>
          <p:spPr>
            <a:xfrm>
              <a:off x="4530016" y="2094265"/>
              <a:ext cx="8697917" cy="609712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rgbClr val="006EBD"/>
                  </a:solidFill>
                </a:rPr>
                <a:t>Starbucks</a:t>
              </a:r>
              <a:r>
                <a:rPr lang="en-US" dirty="0"/>
                <a:t>: </a:t>
              </a:r>
            </a:p>
            <a:p>
              <a:r>
                <a:rPr lang="en-US" sz="1600" dirty="0"/>
                <a:t>Empresa con </a:t>
              </a:r>
              <a:r>
                <a:rPr lang="en-US" sz="1600" dirty="0" err="1"/>
                <a:t>mejor</a:t>
              </a:r>
              <a:r>
                <a:rPr lang="en-US" sz="1600" dirty="0"/>
                <a:t> rating medio y la mayor </a:t>
              </a:r>
              <a:r>
                <a:rPr lang="en-US" sz="1600" dirty="0" err="1"/>
                <a:t>cantidad</a:t>
              </a:r>
              <a:r>
                <a:rPr lang="en-US" sz="1600" dirty="0"/>
                <a:t> de </a:t>
              </a:r>
              <a:r>
                <a:rPr lang="en-US" sz="1600" dirty="0" err="1"/>
                <a:t>puntuaciones</a:t>
              </a:r>
              <a:r>
                <a:rPr lang="en-US" sz="1600" dirty="0"/>
                <a:t> del sector.</a:t>
              </a:r>
            </a:p>
            <a:p>
              <a:r>
                <a:rPr lang="en-US" sz="1600" dirty="0"/>
                <a:t>La </a:t>
              </a:r>
              <a:r>
                <a:rPr lang="en-US" sz="1600" dirty="0" err="1"/>
                <a:t>que</a:t>
              </a:r>
              <a:r>
                <a:rPr lang="en-US" sz="1600" dirty="0"/>
                <a:t> </a:t>
              </a:r>
              <a:r>
                <a:rPr lang="en-US" sz="1600" dirty="0" err="1"/>
                <a:t>recibe</a:t>
              </a:r>
              <a:r>
                <a:rPr lang="en-US" sz="1600" dirty="0"/>
                <a:t> las </a:t>
              </a:r>
              <a:r>
                <a:rPr lang="en-US" sz="1600" dirty="0" err="1"/>
                <a:t>mejores</a:t>
              </a:r>
              <a:r>
                <a:rPr lang="en-US" sz="1600" dirty="0"/>
                <a:t> </a:t>
              </a:r>
              <a:r>
                <a:rPr lang="en-US" sz="1600" dirty="0" err="1"/>
                <a:t>puntuaciones</a:t>
              </a:r>
              <a:r>
                <a:rPr lang="en-US" sz="1600" dirty="0"/>
                <a:t> del sector.</a:t>
              </a:r>
              <a:endParaRPr lang="en-US" dirty="0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10167725-653C-A180-D73C-1EBD2B618DA6}"/>
                </a:ext>
              </a:extLst>
            </p:cNvPr>
            <p:cNvSpPr/>
            <p:nvPr/>
          </p:nvSpPr>
          <p:spPr>
            <a:xfrm>
              <a:off x="4559512" y="2207001"/>
              <a:ext cx="45719" cy="399422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0C6CD33-7A1E-153A-D168-6D139D8BF925}"/>
              </a:ext>
            </a:extLst>
          </p:cNvPr>
          <p:cNvGrpSpPr/>
          <p:nvPr/>
        </p:nvGrpSpPr>
        <p:grpSpPr>
          <a:xfrm>
            <a:off x="282481" y="1253608"/>
            <a:ext cx="5498887" cy="710013"/>
            <a:chOff x="282481" y="1253608"/>
            <a:chExt cx="5498887" cy="781669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DE9DE703-20CB-5C0E-2D11-F4BB56A9C90D}"/>
                </a:ext>
              </a:extLst>
            </p:cNvPr>
            <p:cNvSpPr/>
            <p:nvPr/>
          </p:nvSpPr>
          <p:spPr>
            <a:xfrm>
              <a:off x="282481" y="1253608"/>
              <a:ext cx="5498887" cy="781669"/>
            </a:xfrm>
            <a:prstGeom prst="roundRect">
              <a:avLst/>
            </a:prstGeom>
            <a:solidFill>
              <a:srgbClr val="FFF3E7"/>
            </a:solidFill>
            <a:ln>
              <a:solidFill>
                <a:srgbClr val="D24726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rgbClr val="C00000"/>
                  </a:solidFill>
                </a:rPr>
                <a:t>Plantilla Activa</a:t>
              </a:r>
              <a:r>
                <a:rPr lang="en-US" dirty="0"/>
                <a:t>: </a:t>
              </a:r>
              <a:r>
                <a:rPr lang="en-US" sz="1600" dirty="0"/>
                <a:t>Los </a:t>
              </a:r>
              <a:r>
                <a:rPr lang="en-US" sz="1600" dirty="0" err="1"/>
                <a:t>empleador</a:t>
              </a:r>
              <a:r>
                <a:rPr lang="en-US" sz="1600" dirty="0"/>
                <a:t> </a:t>
              </a:r>
              <a:r>
                <a:rPr lang="en-US" sz="1600" dirty="0" err="1"/>
                <a:t>actuales</a:t>
              </a:r>
              <a:r>
                <a:rPr lang="en-US" sz="1600" dirty="0"/>
                <a:t> so </a:t>
              </a:r>
              <a:r>
                <a:rPr lang="en-US" sz="1600" dirty="0" err="1"/>
                <a:t>los</a:t>
              </a:r>
              <a:r>
                <a:rPr lang="en-US" sz="1600" dirty="0"/>
                <a:t> </a:t>
              </a:r>
              <a:r>
                <a:rPr lang="en-US" sz="1600" dirty="0" err="1"/>
                <a:t>que</a:t>
              </a:r>
              <a:r>
                <a:rPr lang="en-US" sz="1600" dirty="0"/>
                <a:t> mas </a:t>
              </a:r>
              <a:r>
                <a:rPr lang="en-US" sz="1600" dirty="0" err="1"/>
                <a:t>reseñas</a:t>
              </a:r>
              <a:r>
                <a:rPr lang="en-US" sz="1600" dirty="0"/>
                <a:t> </a:t>
              </a:r>
              <a:r>
                <a:rPr lang="en-US" sz="1600" dirty="0" err="1"/>
                <a:t>han</a:t>
              </a:r>
              <a:r>
                <a:rPr lang="en-US" sz="1600" dirty="0"/>
                <a:t> </a:t>
              </a:r>
              <a:r>
                <a:rPr lang="en-US" sz="1600" dirty="0" err="1"/>
                <a:t>subido</a:t>
              </a:r>
              <a:r>
                <a:rPr lang="en-US" sz="1600" dirty="0"/>
                <a:t> a la </a:t>
              </a:r>
              <a:r>
                <a:rPr lang="en-US" sz="1600" dirty="0" err="1"/>
                <a:t>plataforma</a:t>
              </a:r>
              <a:r>
                <a:rPr lang="en-US" sz="1600" dirty="0"/>
                <a:t>.</a:t>
              </a:r>
              <a:endParaRPr lang="en-US" dirty="0"/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6691BBDA-26C7-24B7-4282-31206CEC44A8}"/>
                </a:ext>
              </a:extLst>
            </p:cNvPr>
            <p:cNvSpPr/>
            <p:nvPr/>
          </p:nvSpPr>
          <p:spPr>
            <a:xfrm>
              <a:off x="306204" y="1346487"/>
              <a:ext cx="48473" cy="540363"/>
            </a:xfrm>
            <a:prstGeom prst="roundRect">
              <a:avLst/>
            </a:prstGeom>
            <a:solidFill>
              <a:srgbClr val="D24726"/>
            </a:solidFill>
            <a:ln>
              <a:solidFill>
                <a:srgbClr val="D24726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611EDD7-0522-C6E3-2AEE-E71350D29AB5}"/>
              </a:ext>
            </a:extLst>
          </p:cNvPr>
          <p:cNvGrpSpPr/>
          <p:nvPr/>
        </p:nvGrpSpPr>
        <p:grpSpPr>
          <a:xfrm>
            <a:off x="5915233" y="1243780"/>
            <a:ext cx="5632753" cy="719842"/>
            <a:chOff x="282481" y="1253609"/>
            <a:chExt cx="5417771" cy="782916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01F753C1-AB04-BC07-6D5C-CF31BD6DB17E}"/>
                </a:ext>
              </a:extLst>
            </p:cNvPr>
            <p:cNvSpPr/>
            <p:nvPr/>
          </p:nvSpPr>
          <p:spPr>
            <a:xfrm>
              <a:off x="282481" y="1253609"/>
              <a:ext cx="5417771" cy="782916"/>
            </a:xfrm>
            <a:prstGeom prst="roundRect">
              <a:avLst/>
            </a:prstGeom>
            <a:solidFill>
              <a:srgbClr val="FFF3E7"/>
            </a:solidFill>
            <a:ln>
              <a:solidFill>
                <a:srgbClr val="D24726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rgbClr val="C00000"/>
                  </a:solidFill>
                </a:rPr>
                <a:t>KFC</a:t>
              </a:r>
              <a:r>
                <a:rPr lang="en-US" dirty="0"/>
                <a:t>: </a:t>
              </a:r>
              <a:r>
                <a:rPr lang="en-US" sz="1600" dirty="0" err="1"/>
                <a:t>Mantiene</a:t>
              </a:r>
              <a:r>
                <a:rPr lang="en-US" sz="1600" dirty="0"/>
                <a:t> un rating </a:t>
              </a:r>
              <a:r>
                <a:rPr lang="en-US" sz="1600" dirty="0" err="1"/>
                <a:t>relativamente</a:t>
              </a:r>
              <a:r>
                <a:rPr lang="en-US" sz="1600" dirty="0"/>
                <a:t> </a:t>
              </a:r>
              <a:r>
                <a:rPr lang="en-US" sz="1600" dirty="0" err="1"/>
                <a:t>estable</a:t>
              </a:r>
              <a:r>
                <a:rPr lang="en-US" sz="1600" dirty="0"/>
                <a:t> </a:t>
              </a:r>
              <a:r>
                <a:rPr lang="en-US" sz="1600" dirty="0" err="1"/>
                <a:t>en</a:t>
              </a:r>
              <a:r>
                <a:rPr lang="en-US" sz="1600" dirty="0"/>
                <a:t> </a:t>
              </a:r>
              <a:r>
                <a:rPr lang="en-US" sz="1600" dirty="0" err="1"/>
                <a:t>comparacion</a:t>
              </a:r>
              <a:r>
                <a:rPr lang="en-US" sz="1600" dirty="0"/>
                <a:t> con el sector.</a:t>
              </a:r>
              <a:endParaRPr lang="en-US" dirty="0"/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A6232548-5195-E27C-8F42-99BFA43CB434}"/>
                </a:ext>
              </a:extLst>
            </p:cNvPr>
            <p:cNvSpPr/>
            <p:nvPr/>
          </p:nvSpPr>
          <p:spPr>
            <a:xfrm>
              <a:off x="306204" y="1346486"/>
              <a:ext cx="43974" cy="543404"/>
            </a:xfrm>
            <a:prstGeom prst="roundRect">
              <a:avLst/>
            </a:prstGeom>
            <a:solidFill>
              <a:srgbClr val="D24726"/>
            </a:solidFill>
            <a:ln>
              <a:solidFill>
                <a:srgbClr val="D24726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FD3EBC1E-C063-A587-E5A9-65227674F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662" y="3161573"/>
            <a:ext cx="5394835" cy="3531744"/>
          </a:xfrm>
          <a:prstGeom prst="rect">
            <a:avLst/>
          </a:prstGeom>
          <a:ln w="3175" cap="sq">
            <a:solidFill>
              <a:srgbClr val="C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1D6D56CD-DAFD-1A3A-7E0A-39AC5A4086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9897" y="3183695"/>
            <a:ext cx="5687262" cy="3531744"/>
          </a:xfrm>
          <a:prstGeom prst="rect">
            <a:avLst/>
          </a:prstGeom>
          <a:ln w="3175" cap="sq">
            <a:solidFill>
              <a:srgbClr val="C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56633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BD777-E421-CBF7-1FA6-5258A7F05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E2DA828-F669-A39B-2739-8EF11949C3BC}"/>
              </a:ext>
            </a:extLst>
          </p:cNvPr>
          <p:cNvCxnSpPr>
            <a:cxnSpLocks/>
          </p:cNvCxnSpPr>
          <p:nvPr/>
        </p:nvCxnSpPr>
        <p:spPr>
          <a:xfrm>
            <a:off x="282481" y="1142992"/>
            <a:ext cx="11265506" cy="0"/>
          </a:xfrm>
          <a:prstGeom prst="line">
            <a:avLst/>
          </a:prstGeom>
          <a:ln>
            <a:solidFill>
              <a:srgbClr val="FF6E4A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AC4BF3F-76C8-2F8D-45F6-19D0387B775A}"/>
              </a:ext>
            </a:extLst>
          </p:cNvPr>
          <p:cNvSpPr txBox="1"/>
          <p:nvPr/>
        </p:nvSpPr>
        <p:spPr>
          <a:xfrm>
            <a:off x="121958" y="570714"/>
            <a:ext cx="7437939" cy="461665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r>
              <a:rPr lang="es-ES" sz="2400" b="1" dirty="0">
                <a:latin typeface="Segoe UI"/>
                <a:ea typeface="+mj-lt"/>
                <a:cs typeface="Segoe UI"/>
              </a:rPr>
              <a:t>  Evaluación de las reseñas con </a:t>
            </a:r>
            <a:r>
              <a:rPr lang="es-ES" sz="2400" b="1" dirty="0" err="1">
                <a:latin typeface="Segoe UI"/>
                <a:ea typeface="+mj-lt"/>
                <a:cs typeface="Segoe UI"/>
              </a:rPr>
              <a:t>DistilBERT</a:t>
            </a:r>
            <a:endParaRPr lang="en-US" sz="24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7360246-EC1A-1CC3-B865-50FE368DBA87}"/>
              </a:ext>
            </a:extLst>
          </p:cNvPr>
          <p:cNvGrpSpPr/>
          <p:nvPr/>
        </p:nvGrpSpPr>
        <p:grpSpPr>
          <a:xfrm>
            <a:off x="293048" y="1253604"/>
            <a:ext cx="5945520" cy="3125519"/>
            <a:chOff x="305651" y="2322928"/>
            <a:chExt cx="11856795" cy="1438125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71580490-09B7-5A60-5B0D-B178A13BEB8D}"/>
                </a:ext>
              </a:extLst>
            </p:cNvPr>
            <p:cNvSpPr/>
            <p:nvPr/>
          </p:nvSpPr>
          <p:spPr>
            <a:xfrm>
              <a:off x="305651" y="2322928"/>
              <a:ext cx="11856795" cy="1438125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b="1" dirty="0">
                <a:solidFill>
                  <a:srgbClr val="006EBD"/>
                </a:solidFill>
              </a:endParaRPr>
            </a:p>
            <a:p>
              <a:r>
                <a:rPr lang="en-US" sz="2400" b="1" dirty="0">
                  <a:solidFill>
                    <a:srgbClr val="005DA2"/>
                  </a:solidFill>
                </a:rPr>
                <a:t>Control de Calidad del </a:t>
              </a:r>
              <a:r>
                <a:rPr lang="en-US" sz="2400" b="1" dirty="0" err="1">
                  <a:solidFill>
                    <a:srgbClr val="005DA2"/>
                  </a:solidFill>
                </a:rPr>
                <a:t>Sentimiento</a:t>
              </a:r>
              <a:r>
                <a:rPr lang="en-US" sz="2400" b="1" dirty="0">
                  <a:solidFill>
                    <a:srgbClr val="005DA2"/>
                  </a:solidFill>
                </a:rPr>
                <a:t>:</a:t>
              </a:r>
            </a:p>
            <a:p>
              <a:r>
                <a:rPr lang="en-US" dirty="0"/>
                <a:t>El control de </a:t>
              </a:r>
              <a:r>
                <a:rPr lang="en-US" dirty="0" err="1"/>
                <a:t>calidad</a:t>
              </a:r>
              <a:r>
                <a:rPr lang="en-US" dirty="0"/>
                <a:t> con </a:t>
              </a:r>
              <a:r>
                <a:rPr lang="en-US" dirty="0" err="1"/>
                <a:t>DistilBERT</a:t>
              </a:r>
              <a:r>
                <a:rPr lang="en-US" dirty="0"/>
                <a:t> </a:t>
              </a:r>
              <a:r>
                <a:rPr lang="en-US" dirty="0" err="1"/>
                <a:t>confirma</a:t>
              </a:r>
              <a:r>
                <a:rPr lang="en-US" dirty="0"/>
                <a:t> la </a:t>
              </a:r>
              <a:r>
                <a:rPr lang="en-US" dirty="0" err="1"/>
                <a:t>fiabilidad</a:t>
              </a:r>
              <a:r>
                <a:rPr lang="en-US" dirty="0"/>
                <a:t> del dataset de Glassdoor: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rgbClr val="005DA2"/>
                  </a:solidFill>
                </a:rPr>
                <a:t>Pros</a:t>
              </a:r>
              <a:r>
                <a:rPr lang="en-US" dirty="0"/>
                <a:t> </a:t>
              </a:r>
              <a:r>
                <a:rPr lang="en-US" dirty="0" err="1"/>
                <a:t>registran</a:t>
              </a:r>
              <a:r>
                <a:rPr lang="en-US" dirty="0"/>
                <a:t> un ~88% de </a:t>
              </a:r>
              <a:r>
                <a:rPr lang="en-US" dirty="0" err="1"/>
                <a:t>reseñas</a:t>
              </a:r>
              <a:r>
                <a:rPr lang="en-US" dirty="0"/>
                <a:t> </a:t>
              </a:r>
              <a:r>
                <a:rPr lang="en-US" dirty="0" err="1"/>
                <a:t>positivas</a:t>
              </a:r>
              <a:r>
                <a:rPr lang="en-US" dirty="0"/>
                <a:t> </a:t>
              </a:r>
              <a:r>
                <a:rPr lang="en-US" dirty="0" err="1"/>
                <a:t>evaluadas</a:t>
              </a:r>
              <a:r>
                <a:rPr lang="en-US" dirty="0"/>
                <a:t> </a:t>
              </a:r>
              <a:r>
                <a:rPr lang="en-US" dirty="0" err="1"/>
                <a:t>como</a:t>
              </a:r>
              <a:r>
                <a:rPr lang="en-US" dirty="0"/>
                <a:t> </a:t>
              </a:r>
              <a:r>
                <a:rPr lang="en-US" dirty="0" err="1"/>
                <a:t>positivas</a:t>
              </a:r>
              <a:r>
                <a:rPr lang="en-US" dirty="0"/>
                <a:t>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rgbClr val="005DA2"/>
                  </a:solidFill>
                </a:rPr>
                <a:t>Cons</a:t>
              </a:r>
              <a:r>
                <a:rPr lang="en-US" dirty="0"/>
                <a:t> un ~84-85% de </a:t>
              </a:r>
              <a:r>
                <a:rPr lang="en-US" dirty="0" err="1"/>
                <a:t>reseñas</a:t>
              </a:r>
              <a:r>
                <a:rPr lang="en-US" dirty="0"/>
                <a:t> </a:t>
              </a:r>
              <a:r>
                <a:rPr lang="en-US" dirty="0" err="1"/>
                <a:t>negativas</a:t>
              </a:r>
              <a:r>
                <a:rPr lang="en-US" dirty="0"/>
                <a:t> </a:t>
              </a:r>
              <a:r>
                <a:rPr lang="en-US" dirty="0" err="1"/>
                <a:t>evaluadas</a:t>
              </a:r>
              <a:r>
                <a:rPr lang="en-US" dirty="0"/>
                <a:t> </a:t>
              </a:r>
              <a:r>
                <a:rPr lang="en-US" dirty="0" err="1"/>
                <a:t>como</a:t>
              </a:r>
              <a:r>
                <a:rPr lang="en-US" dirty="0"/>
                <a:t> </a:t>
              </a:r>
              <a:r>
                <a:rPr lang="en-US" dirty="0" err="1"/>
                <a:t>negativas</a:t>
              </a:r>
              <a:r>
                <a:rPr lang="en-US" dirty="0"/>
                <a:t>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 err="1"/>
                <a:t>Comportamiento</a:t>
              </a:r>
              <a:r>
                <a:rPr lang="en-US" dirty="0"/>
                <a:t> </a:t>
              </a:r>
              <a:r>
                <a:rPr lang="en-US" dirty="0" err="1"/>
                <a:t>homogéneo</a:t>
              </a:r>
              <a:r>
                <a:rPr lang="en-US" dirty="0"/>
                <a:t> entre KFC y el sector.</a:t>
              </a:r>
            </a:p>
            <a:p>
              <a:endParaRPr lang="en-US" b="1" dirty="0">
                <a:solidFill>
                  <a:srgbClr val="006EBD"/>
                </a:solidFill>
              </a:endParaRPr>
            </a:p>
            <a:p>
              <a:r>
                <a:rPr lang="en-US" sz="1600" dirty="0"/>
                <a:t>.</a:t>
              </a:r>
              <a:endParaRPr lang="en-US" dirty="0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612F06D5-B39A-2486-7BA2-DA5411AA8B8A}"/>
                </a:ext>
              </a:extLst>
            </p:cNvPr>
            <p:cNvSpPr/>
            <p:nvPr/>
          </p:nvSpPr>
          <p:spPr>
            <a:xfrm>
              <a:off x="369352" y="2510495"/>
              <a:ext cx="100252" cy="921303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DBCDA80-342A-39F0-0AE9-7927F264DC72}"/>
              </a:ext>
            </a:extLst>
          </p:cNvPr>
          <p:cNvGrpSpPr/>
          <p:nvPr/>
        </p:nvGrpSpPr>
        <p:grpSpPr>
          <a:xfrm>
            <a:off x="201363" y="4495806"/>
            <a:ext cx="6155191" cy="2217178"/>
            <a:chOff x="282481" y="1253608"/>
            <a:chExt cx="5498887" cy="781669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DAE9BB0B-543D-A8E0-B26E-7B5A4ED9B01C}"/>
                </a:ext>
              </a:extLst>
            </p:cNvPr>
            <p:cNvSpPr/>
            <p:nvPr/>
          </p:nvSpPr>
          <p:spPr>
            <a:xfrm>
              <a:off x="282481" y="1253608"/>
              <a:ext cx="5498887" cy="781669"/>
            </a:xfrm>
            <a:prstGeom prst="roundRect">
              <a:avLst/>
            </a:prstGeom>
            <a:solidFill>
              <a:srgbClr val="FFF3E7"/>
            </a:solidFill>
            <a:ln>
              <a:solidFill>
                <a:srgbClr val="D24726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rgbClr val="C00000"/>
                  </a:solidFill>
                </a:rPr>
                <a:t>Casos </a:t>
              </a:r>
              <a:r>
                <a:rPr lang="en-US" b="1" dirty="0" err="1">
                  <a:solidFill>
                    <a:srgbClr val="C00000"/>
                  </a:solidFill>
                </a:rPr>
                <a:t>Discordantes</a:t>
              </a:r>
              <a:r>
                <a:rPr lang="en-US" b="1" dirty="0">
                  <a:solidFill>
                    <a:srgbClr val="C00000"/>
                  </a:solidFill>
                </a:rPr>
                <a:t>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b="1" dirty="0">
                  <a:solidFill>
                    <a:srgbClr val="C00000"/>
                  </a:solidFill>
                </a:rPr>
                <a:t>Pros </a:t>
              </a:r>
              <a:r>
                <a:rPr lang="en-US" sz="1600" b="1" dirty="0" err="1">
                  <a:solidFill>
                    <a:srgbClr val="C00000"/>
                  </a:solidFill>
                </a:rPr>
                <a:t>evaluados</a:t>
              </a:r>
              <a:r>
                <a:rPr lang="en-US" sz="1600" b="1" dirty="0">
                  <a:solidFill>
                    <a:srgbClr val="C00000"/>
                  </a:solidFill>
                </a:rPr>
                <a:t> </a:t>
              </a:r>
              <a:r>
                <a:rPr lang="en-US" sz="1600" b="1" dirty="0" err="1">
                  <a:solidFill>
                    <a:srgbClr val="C00000"/>
                  </a:solidFill>
                </a:rPr>
                <a:t>como</a:t>
              </a:r>
              <a:r>
                <a:rPr lang="en-US" sz="1600" b="1" dirty="0">
                  <a:solidFill>
                    <a:srgbClr val="C00000"/>
                  </a:solidFill>
                </a:rPr>
                <a:t> </a:t>
              </a:r>
              <a:r>
                <a:rPr lang="en-US" sz="1600" b="1" dirty="0" err="1">
                  <a:solidFill>
                    <a:srgbClr val="C00000"/>
                  </a:solidFill>
                </a:rPr>
                <a:t>negativos</a:t>
              </a:r>
              <a:r>
                <a:rPr lang="en-US" sz="1600" b="1" dirty="0">
                  <a:solidFill>
                    <a:srgbClr val="C00000"/>
                  </a:solidFill>
                </a:rPr>
                <a:t> </a:t>
              </a:r>
              <a:r>
                <a:rPr lang="en-US" sz="1600" b="1" dirty="0">
                  <a:solidFill>
                    <a:schemeClr val="tx1"/>
                  </a:solidFill>
                </a:rPr>
                <a:t>(</a:t>
              </a:r>
              <a:r>
                <a:rPr lang="en-US" sz="1600" b="1" dirty="0" err="1">
                  <a:solidFill>
                    <a:schemeClr val="tx1"/>
                  </a:solidFill>
                </a:rPr>
                <a:t>Falsos</a:t>
              </a:r>
              <a:r>
                <a:rPr lang="en-US" sz="1600" b="1" dirty="0">
                  <a:solidFill>
                    <a:schemeClr val="tx1"/>
                  </a:solidFill>
                </a:rPr>
                <a:t> </a:t>
              </a:r>
              <a:r>
                <a:rPr lang="en-US" sz="1600" b="1" dirty="0" err="1">
                  <a:solidFill>
                    <a:schemeClr val="tx1"/>
                  </a:solidFill>
                </a:rPr>
                <a:t>Negativos</a:t>
              </a:r>
              <a:r>
                <a:rPr lang="en-US" sz="1600" b="1" dirty="0">
                  <a:solidFill>
                    <a:schemeClr val="tx1"/>
                  </a:solidFill>
                </a:rPr>
                <a:t>):</a:t>
              </a:r>
            </a:p>
            <a:p>
              <a:r>
                <a:rPr lang="en-US" sz="1600" b="1" dirty="0">
                  <a:solidFill>
                    <a:schemeClr val="tx1"/>
                  </a:solidFill>
                </a:rPr>
                <a:t>     ‘good plate to work, nothing else’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600" b="1" dirty="0">
                <a:solidFill>
                  <a:schemeClr val="tx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b="1" dirty="0">
                  <a:solidFill>
                    <a:srgbClr val="005DA2"/>
                  </a:solidFill>
                </a:rPr>
                <a:t>Cons </a:t>
              </a:r>
              <a:r>
                <a:rPr lang="en-US" sz="1600" b="1" dirty="0" err="1">
                  <a:solidFill>
                    <a:srgbClr val="005DA2"/>
                  </a:solidFill>
                </a:rPr>
                <a:t>evaluados</a:t>
              </a:r>
              <a:r>
                <a:rPr lang="en-US" sz="1600" b="1" dirty="0">
                  <a:solidFill>
                    <a:srgbClr val="005DA2"/>
                  </a:solidFill>
                </a:rPr>
                <a:t> </a:t>
              </a:r>
              <a:r>
                <a:rPr lang="en-US" sz="1600" b="1" dirty="0" err="1">
                  <a:solidFill>
                    <a:srgbClr val="005DA2"/>
                  </a:solidFill>
                </a:rPr>
                <a:t>como</a:t>
              </a:r>
              <a:r>
                <a:rPr lang="en-US" sz="1600" b="1" dirty="0">
                  <a:solidFill>
                    <a:srgbClr val="005DA2"/>
                  </a:solidFill>
                </a:rPr>
                <a:t> </a:t>
              </a:r>
              <a:r>
                <a:rPr lang="en-US" sz="1600" b="1" dirty="0" err="1">
                  <a:solidFill>
                    <a:srgbClr val="005DA2"/>
                  </a:solidFill>
                </a:rPr>
                <a:t>positivos</a:t>
              </a:r>
              <a:r>
                <a:rPr lang="en-US" sz="1600" b="1" dirty="0">
                  <a:solidFill>
                    <a:srgbClr val="005DA2"/>
                  </a:solidFill>
                </a:rPr>
                <a:t> </a:t>
              </a:r>
              <a:r>
                <a:rPr lang="en-US" sz="1600" b="1" dirty="0">
                  <a:solidFill>
                    <a:schemeClr val="tx1"/>
                  </a:solidFill>
                </a:rPr>
                <a:t>(</a:t>
              </a:r>
              <a:r>
                <a:rPr lang="en-US" sz="1600" b="1" dirty="0" err="1">
                  <a:solidFill>
                    <a:schemeClr val="tx1"/>
                  </a:solidFill>
                </a:rPr>
                <a:t>Falsos</a:t>
              </a:r>
              <a:r>
                <a:rPr lang="en-US" sz="1600" b="1" dirty="0">
                  <a:solidFill>
                    <a:schemeClr val="tx1"/>
                  </a:solidFill>
                </a:rPr>
                <a:t> Positivos):</a:t>
              </a:r>
            </a:p>
            <a:p>
              <a:r>
                <a:rPr lang="en-US" sz="1600" b="1" dirty="0">
                  <a:solidFill>
                    <a:schemeClr val="tx1"/>
                  </a:solidFill>
                </a:rPr>
                <a:t>      ‘nothing bad to say great people’</a:t>
              </a:r>
            </a:p>
            <a:p>
              <a:endParaRPr lang="en-US" sz="1600" b="1" dirty="0">
                <a:solidFill>
                  <a:srgbClr val="C00000"/>
                </a:solidFill>
              </a:endParaRP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636F59B5-3113-95A0-CE3D-F1EA1A1D0F7A}"/>
                </a:ext>
              </a:extLst>
            </p:cNvPr>
            <p:cNvSpPr/>
            <p:nvPr/>
          </p:nvSpPr>
          <p:spPr>
            <a:xfrm>
              <a:off x="321989" y="1371114"/>
              <a:ext cx="48473" cy="540363"/>
            </a:xfrm>
            <a:prstGeom prst="roundRect">
              <a:avLst/>
            </a:prstGeom>
            <a:solidFill>
              <a:srgbClr val="D24726"/>
            </a:solidFill>
            <a:ln>
              <a:solidFill>
                <a:srgbClr val="D24726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" name="Imagen 39">
            <a:extLst>
              <a:ext uri="{FF2B5EF4-FFF2-40B4-BE49-F238E27FC236}">
                <a16:creationId xmlns:a16="http://schemas.microsoft.com/office/drawing/2014/main" id="{CE44E7E1-CB62-185D-073D-2E171EAA6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4596" y="4166421"/>
            <a:ext cx="4074601" cy="2573595"/>
          </a:xfrm>
          <a:prstGeom prst="rect">
            <a:avLst/>
          </a:prstGeom>
          <a:ln w="3175" cap="sq">
            <a:solidFill>
              <a:srgbClr val="C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Imagen 38">
            <a:extLst>
              <a:ext uri="{FF2B5EF4-FFF2-40B4-BE49-F238E27FC236}">
                <a16:creationId xmlns:a16="http://schemas.microsoft.com/office/drawing/2014/main" id="{4D63FF1E-0E06-4209-B495-975103CBDE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460" y="1236818"/>
            <a:ext cx="4141737" cy="2835778"/>
          </a:xfrm>
          <a:prstGeom prst="rect">
            <a:avLst/>
          </a:prstGeom>
          <a:ln w="3175" cap="sq">
            <a:solidFill>
              <a:srgbClr val="0070C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53689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8374C-21D4-E720-AF77-4A83AABB4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FD8EB27-4106-7CB7-4990-271D4842F7A1}"/>
              </a:ext>
            </a:extLst>
          </p:cNvPr>
          <p:cNvCxnSpPr>
            <a:cxnSpLocks/>
          </p:cNvCxnSpPr>
          <p:nvPr/>
        </p:nvCxnSpPr>
        <p:spPr>
          <a:xfrm>
            <a:off x="282481" y="1142992"/>
            <a:ext cx="11265506" cy="0"/>
          </a:xfrm>
          <a:prstGeom prst="line">
            <a:avLst/>
          </a:prstGeom>
          <a:ln>
            <a:solidFill>
              <a:srgbClr val="FF6E4A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D40157E-EDB1-FE16-C7B0-447D2C608504}"/>
              </a:ext>
            </a:extLst>
          </p:cNvPr>
          <p:cNvSpPr txBox="1"/>
          <p:nvPr/>
        </p:nvSpPr>
        <p:spPr>
          <a:xfrm>
            <a:off x="121958" y="570714"/>
            <a:ext cx="5711029" cy="461665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r>
              <a:rPr lang="es-ES" sz="2400" b="1" dirty="0">
                <a:latin typeface="Segoe UI"/>
                <a:ea typeface="+mj-lt"/>
                <a:cs typeface="Segoe UI"/>
              </a:rPr>
              <a:t>  Análisis de </a:t>
            </a:r>
            <a:r>
              <a:rPr lang="es-ES" sz="2400" b="1" dirty="0" err="1">
                <a:latin typeface="Segoe UI"/>
                <a:ea typeface="+mj-lt"/>
                <a:cs typeface="Segoe UI"/>
              </a:rPr>
              <a:t>Topics</a:t>
            </a:r>
            <a:r>
              <a:rPr lang="es-ES" sz="2400" b="1" dirty="0">
                <a:latin typeface="Segoe UI"/>
                <a:ea typeface="+mj-lt"/>
                <a:cs typeface="Segoe UI"/>
              </a:rPr>
              <a:t> con </a:t>
            </a:r>
            <a:r>
              <a:rPr lang="es-419" sz="2400" b="1" dirty="0" err="1">
                <a:latin typeface="Segoe UI"/>
                <a:ea typeface="+mj-lt"/>
                <a:cs typeface="Segoe UI"/>
              </a:rPr>
              <a:t>BERTopic</a:t>
            </a:r>
            <a:endParaRPr lang="en-US" sz="2400" b="1" dirty="0">
              <a:latin typeface="Segoe UI"/>
              <a:ea typeface="+mj-lt"/>
              <a:cs typeface="Segoe UI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BAC1513-C1F9-E4C8-4AF2-3D71D95248F6}"/>
              </a:ext>
            </a:extLst>
          </p:cNvPr>
          <p:cNvGrpSpPr/>
          <p:nvPr/>
        </p:nvGrpSpPr>
        <p:grpSpPr>
          <a:xfrm>
            <a:off x="293048" y="1253605"/>
            <a:ext cx="5945520" cy="1076637"/>
            <a:chOff x="305651" y="2322928"/>
            <a:chExt cx="11856795" cy="559857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406AFC75-EB3F-F79A-8945-210478F9DB91}"/>
                </a:ext>
              </a:extLst>
            </p:cNvPr>
            <p:cNvSpPr/>
            <p:nvPr/>
          </p:nvSpPr>
          <p:spPr>
            <a:xfrm>
              <a:off x="305651" y="2322928"/>
              <a:ext cx="11856795" cy="559857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b="1" dirty="0">
                <a:solidFill>
                  <a:srgbClr val="006EBD"/>
                </a:solidFill>
              </a:endParaRPr>
            </a:p>
            <a:p>
              <a:r>
                <a:rPr lang="en-US" sz="2400" b="1" dirty="0">
                  <a:solidFill>
                    <a:srgbClr val="005DA2"/>
                  </a:solidFill>
                </a:rPr>
                <a:t>Pros:</a:t>
              </a:r>
            </a:p>
            <a:p>
              <a:r>
                <a:rPr lang="en-US" dirty="0"/>
                <a:t>El mayor % de las </a:t>
              </a:r>
              <a:r>
                <a:rPr lang="en-US" dirty="0" err="1"/>
                <a:t>reseñas</a:t>
              </a:r>
              <a:r>
                <a:rPr lang="en-US" dirty="0"/>
                <a:t> se </a:t>
              </a:r>
              <a:r>
                <a:rPr lang="en-US" dirty="0" err="1"/>
                <a:t>centran</a:t>
              </a:r>
              <a:r>
                <a:rPr lang="en-US" dirty="0"/>
                <a:t> </a:t>
              </a:r>
              <a:r>
                <a:rPr lang="en-US" dirty="0" err="1"/>
                <a:t>principalmente</a:t>
              </a:r>
              <a:r>
                <a:rPr lang="en-US" dirty="0"/>
                <a:t> </a:t>
              </a:r>
              <a:r>
                <a:rPr lang="en-US" dirty="0" err="1"/>
                <a:t>en</a:t>
              </a:r>
              <a:r>
                <a:rPr lang="en-US" dirty="0"/>
                <a:t> el topic </a:t>
              </a:r>
              <a:r>
                <a:rPr lang="en-US" dirty="0" err="1"/>
                <a:t>Beneficios</a:t>
              </a:r>
              <a:r>
                <a:rPr lang="en-US" dirty="0"/>
                <a:t> y </a:t>
              </a:r>
              <a:r>
                <a:rPr lang="en-US" dirty="0" err="1"/>
                <a:t>Flexibilidad</a:t>
              </a:r>
              <a:r>
                <a:rPr lang="en-US" dirty="0"/>
                <a:t>(91.42).</a:t>
              </a:r>
            </a:p>
            <a:p>
              <a:endParaRPr lang="en-US" dirty="0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39D4C0F7-B03F-BE88-4B9D-2195FAE36979}"/>
                </a:ext>
              </a:extLst>
            </p:cNvPr>
            <p:cNvSpPr/>
            <p:nvPr/>
          </p:nvSpPr>
          <p:spPr>
            <a:xfrm>
              <a:off x="414937" y="2416712"/>
              <a:ext cx="91175" cy="372289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F02124A-92A9-3BA9-3CE2-A3ADA3B09087}"/>
              </a:ext>
            </a:extLst>
          </p:cNvPr>
          <p:cNvGrpSpPr/>
          <p:nvPr/>
        </p:nvGrpSpPr>
        <p:grpSpPr>
          <a:xfrm>
            <a:off x="6388312" y="1253607"/>
            <a:ext cx="5314534" cy="1076636"/>
            <a:chOff x="282481" y="1253609"/>
            <a:chExt cx="5498887" cy="731560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BA5AA79F-F968-89AD-D0F3-73CDBA07A24A}"/>
                </a:ext>
              </a:extLst>
            </p:cNvPr>
            <p:cNvSpPr/>
            <p:nvPr/>
          </p:nvSpPr>
          <p:spPr>
            <a:xfrm>
              <a:off x="282481" y="1253609"/>
              <a:ext cx="5498887" cy="731560"/>
            </a:xfrm>
            <a:prstGeom prst="roundRect">
              <a:avLst/>
            </a:prstGeom>
            <a:solidFill>
              <a:srgbClr val="FFF3E7"/>
            </a:solidFill>
            <a:ln>
              <a:solidFill>
                <a:srgbClr val="D24726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2400" b="1" dirty="0">
                  <a:solidFill>
                    <a:srgbClr val="C00000"/>
                  </a:solidFill>
                </a:rPr>
                <a:t>Cons</a:t>
              </a:r>
              <a:r>
                <a:rPr lang="en-US" b="1" dirty="0">
                  <a:solidFill>
                    <a:srgbClr val="C00000"/>
                  </a:solidFill>
                </a:rPr>
                <a:t>: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El mayor % de las </a:t>
              </a:r>
              <a:r>
                <a:rPr lang="en-US" sz="1600" dirty="0" err="1">
                  <a:solidFill>
                    <a:schemeClr val="tx1"/>
                  </a:solidFill>
                </a:rPr>
                <a:t>reseñas</a:t>
              </a:r>
              <a:r>
                <a:rPr lang="en-US" sz="1600" dirty="0">
                  <a:solidFill>
                    <a:schemeClr val="tx1"/>
                  </a:solidFill>
                </a:rPr>
                <a:t> se </a:t>
              </a:r>
              <a:r>
                <a:rPr lang="en-US" sz="1600" dirty="0" err="1">
                  <a:solidFill>
                    <a:schemeClr val="tx1"/>
                  </a:solidFill>
                </a:rPr>
                <a:t>concentran</a:t>
              </a:r>
              <a:r>
                <a:rPr lang="en-US" sz="1600" dirty="0">
                  <a:solidFill>
                    <a:schemeClr val="tx1"/>
                  </a:solidFill>
                </a:rPr>
                <a:t> </a:t>
              </a:r>
              <a:r>
                <a:rPr lang="en-US" sz="1600" dirty="0" err="1">
                  <a:solidFill>
                    <a:schemeClr val="tx1"/>
                  </a:solidFill>
                </a:rPr>
                <a:t>en</a:t>
              </a:r>
              <a:r>
                <a:rPr lang="en-US" sz="1600" dirty="0">
                  <a:solidFill>
                    <a:schemeClr val="tx1"/>
                  </a:solidFill>
                </a:rPr>
                <a:t> Salario, </a:t>
              </a:r>
              <a:r>
                <a:rPr lang="en-US" sz="1600" dirty="0" err="1">
                  <a:solidFill>
                    <a:schemeClr val="tx1"/>
                  </a:solidFill>
                </a:rPr>
                <a:t>Horarios</a:t>
              </a:r>
              <a:r>
                <a:rPr lang="en-US" sz="1600" dirty="0">
                  <a:solidFill>
                    <a:schemeClr val="tx1"/>
                  </a:solidFill>
                </a:rPr>
                <a:t> y </a:t>
              </a:r>
              <a:r>
                <a:rPr lang="en-US" sz="1600" dirty="0" err="1">
                  <a:solidFill>
                    <a:schemeClr val="tx1"/>
                  </a:solidFill>
                </a:rPr>
                <a:t>Getión</a:t>
              </a:r>
              <a:r>
                <a:rPr lang="en-US" sz="1600" dirty="0">
                  <a:solidFill>
                    <a:schemeClr val="tx1"/>
                  </a:solidFill>
                </a:rPr>
                <a:t> (88.4). </a:t>
              </a:r>
            </a:p>
            <a:p>
              <a:endParaRPr lang="en-US" sz="1600" b="1" dirty="0">
                <a:solidFill>
                  <a:srgbClr val="C00000"/>
                </a:solidFill>
              </a:endParaRP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50EFEFBC-EC9D-CFF1-353D-BF93A75152D8}"/>
                </a:ext>
              </a:extLst>
            </p:cNvPr>
            <p:cNvSpPr/>
            <p:nvPr/>
          </p:nvSpPr>
          <p:spPr>
            <a:xfrm>
              <a:off x="321989" y="1371114"/>
              <a:ext cx="48473" cy="540363"/>
            </a:xfrm>
            <a:prstGeom prst="roundRect">
              <a:avLst/>
            </a:prstGeom>
            <a:solidFill>
              <a:srgbClr val="D24726"/>
            </a:solidFill>
            <a:ln>
              <a:solidFill>
                <a:srgbClr val="D24726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ED5F5DFA-2AD0-7EBD-8A86-4C00502839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481" y="2449902"/>
            <a:ext cx="11420365" cy="4140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373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719B5-FEDC-EB6C-CCB6-254B3CE29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9015762-924D-0367-8895-B87D55BA99B0}"/>
              </a:ext>
            </a:extLst>
          </p:cNvPr>
          <p:cNvCxnSpPr>
            <a:cxnSpLocks/>
          </p:cNvCxnSpPr>
          <p:nvPr/>
        </p:nvCxnSpPr>
        <p:spPr>
          <a:xfrm>
            <a:off x="282481" y="1142992"/>
            <a:ext cx="11265506" cy="0"/>
          </a:xfrm>
          <a:prstGeom prst="line">
            <a:avLst/>
          </a:prstGeom>
          <a:ln>
            <a:solidFill>
              <a:srgbClr val="FF6E4A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3D815ED-C963-AAD7-03D5-43B36032C09E}"/>
              </a:ext>
            </a:extLst>
          </p:cNvPr>
          <p:cNvSpPr txBox="1"/>
          <p:nvPr/>
        </p:nvSpPr>
        <p:spPr>
          <a:xfrm>
            <a:off x="121958" y="570714"/>
            <a:ext cx="8336242" cy="461665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r>
              <a:rPr lang="es-ES" sz="2400" b="1" dirty="0">
                <a:latin typeface="Segoe UI"/>
                <a:ea typeface="+mj-lt"/>
                <a:cs typeface="Segoe UI"/>
              </a:rPr>
              <a:t>  Comparación con las Peers</a:t>
            </a:r>
            <a:endParaRPr lang="en-US" sz="24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7306573-058A-15AB-E18F-206D32EF2FD7}"/>
              </a:ext>
            </a:extLst>
          </p:cNvPr>
          <p:cNvGrpSpPr/>
          <p:nvPr/>
        </p:nvGrpSpPr>
        <p:grpSpPr>
          <a:xfrm>
            <a:off x="306669" y="1253601"/>
            <a:ext cx="3268485" cy="2351533"/>
            <a:chOff x="345023" y="2322926"/>
            <a:chExt cx="9447594" cy="1308707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01DCE4DC-5223-C24C-91F1-1266E25A725E}"/>
                </a:ext>
              </a:extLst>
            </p:cNvPr>
            <p:cNvSpPr/>
            <p:nvPr/>
          </p:nvSpPr>
          <p:spPr>
            <a:xfrm>
              <a:off x="345023" y="2322926"/>
              <a:ext cx="9447594" cy="1308707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2400" b="1" dirty="0">
                  <a:solidFill>
                    <a:srgbClr val="005DA2"/>
                  </a:solidFill>
                </a:rPr>
                <a:t>Topics Pros: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 err="1"/>
                <a:t>Beneficios</a:t>
              </a:r>
              <a:r>
                <a:rPr lang="en-US" dirty="0"/>
                <a:t> y </a:t>
              </a:r>
              <a:r>
                <a:rPr lang="en-US" dirty="0" err="1"/>
                <a:t>Flexibilidad</a:t>
              </a: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 err="1"/>
                <a:t>Compañeros</a:t>
              </a:r>
              <a:r>
                <a:rPr lang="en-US" dirty="0"/>
                <a:t> y </a:t>
              </a:r>
              <a:r>
                <a:rPr lang="en-US" dirty="0" err="1"/>
                <a:t>Aprendizaje</a:t>
              </a: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 err="1"/>
                <a:t>Producto</a:t>
              </a:r>
              <a:r>
                <a:rPr lang="en-US" dirty="0"/>
                <a:t> y </a:t>
              </a:r>
              <a:r>
                <a:rPr lang="en-US" dirty="0" err="1"/>
                <a:t>Descuentos</a:t>
              </a: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Sin </a:t>
              </a:r>
              <a:r>
                <a:rPr lang="en-US" dirty="0" err="1"/>
                <a:t>Ventajas</a:t>
              </a:r>
              <a:r>
                <a:rPr lang="en-US" dirty="0"/>
                <a:t> </a:t>
              </a:r>
              <a:r>
                <a:rPr lang="en-US" dirty="0" err="1"/>
                <a:t>Destacadas</a:t>
              </a: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 err="1"/>
                <a:t>Valoración</a:t>
              </a:r>
              <a:r>
                <a:rPr lang="en-US" dirty="0"/>
                <a:t> </a:t>
              </a:r>
              <a:r>
                <a:rPr lang="en-US" dirty="0" err="1"/>
                <a:t>Positiva</a:t>
              </a:r>
              <a:r>
                <a:rPr lang="en-US" dirty="0"/>
                <a:t> General</a:t>
              </a:r>
            </a:p>
            <a:p>
              <a:endParaRPr lang="en-US" dirty="0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491E3F11-2DB3-A3E0-F6EB-389FD505A532}"/>
                </a:ext>
              </a:extLst>
            </p:cNvPr>
            <p:cNvSpPr/>
            <p:nvPr/>
          </p:nvSpPr>
          <p:spPr>
            <a:xfrm>
              <a:off x="476703" y="2474129"/>
              <a:ext cx="132151" cy="932257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7503623-0795-2C62-FBFA-E2841A26B97A}"/>
              </a:ext>
            </a:extLst>
          </p:cNvPr>
          <p:cNvGrpSpPr/>
          <p:nvPr/>
        </p:nvGrpSpPr>
        <p:grpSpPr>
          <a:xfrm>
            <a:off x="239240" y="3888127"/>
            <a:ext cx="3410865" cy="2571544"/>
            <a:chOff x="281240" y="1118256"/>
            <a:chExt cx="4513224" cy="1280799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F4960E4F-C53C-4D2B-90CA-470CE675F141}"/>
                </a:ext>
              </a:extLst>
            </p:cNvPr>
            <p:cNvSpPr/>
            <p:nvPr/>
          </p:nvSpPr>
          <p:spPr>
            <a:xfrm>
              <a:off x="281240" y="1118256"/>
              <a:ext cx="4513224" cy="1280799"/>
            </a:xfrm>
            <a:prstGeom prst="roundRect">
              <a:avLst/>
            </a:prstGeom>
            <a:solidFill>
              <a:srgbClr val="FFF3E7"/>
            </a:solidFill>
            <a:ln>
              <a:solidFill>
                <a:srgbClr val="D24726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2400" b="1" dirty="0">
                <a:solidFill>
                  <a:srgbClr val="C00000"/>
                </a:solidFill>
              </a:endParaRPr>
            </a:p>
            <a:p>
              <a:endParaRPr lang="en-US" sz="2400" b="1" dirty="0">
                <a:solidFill>
                  <a:srgbClr val="C00000"/>
                </a:solidFill>
              </a:endParaRPr>
            </a:p>
            <a:p>
              <a:r>
                <a:rPr lang="en-US" sz="2400" b="1" dirty="0">
                  <a:solidFill>
                    <a:srgbClr val="C00000"/>
                  </a:solidFill>
                </a:rPr>
                <a:t>Topics Cons: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Salario, </a:t>
              </a:r>
              <a:r>
                <a:rPr lang="en-US" dirty="0" err="1"/>
                <a:t>Horarios</a:t>
              </a:r>
              <a:r>
                <a:rPr lang="en-US" dirty="0"/>
                <a:t> y </a:t>
              </a:r>
              <a:r>
                <a:rPr lang="en-US" dirty="0" err="1"/>
                <a:t>Gestión</a:t>
              </a: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Sin </a:t>
              </a:r>
              <a:r>
                <a:rPr lang="en-US" dirty="0" err="1"/>
                <a:t>Quejas</a:t>
              </a:r>
              <a:r>
                <a:rPr lang="en-US" dirty="0"/>
                <a:t> </a:t>
              </a:r>
              <a:r>
                <a:rPr lang="en-US" dirty="0" err="1"/>
                <a:t>Destacadas</a:t>
              </a: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 err="1"/>
                <a:t>Problemas</a:t>
              </a:r>
              <a:r>
                <a:rPr lang="en-US" dirty="0"/>
                <a:t> con la Empresa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 err="1"/>
                <a:t>Gastos</a:t>
              </a:r>
              <a:r>
                <a:rPr lang="en-US" dirty="0"/>
                <a:t> del </a:t>
              </a:r>
              <a:r>
                <a:rPr lang="en-US" dirty="0" err="1"/>
                <a:t>Vehículo</a:t>
              </a:r>
              <a:r>
                <a:rPr lang="en-US" dirty="0"/>
                <a:t> (Delivery)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 err="1"/>
                <a:t>Exigencia</a:t>
              </a:r>
              <a:r>
                <a:rPr lang="en-US" dirty="0"/>
                <a:t> </a:t>
              </a:r>
              <a:r>
                <a:rPr lang="en-US" dirty="0" err="1"/>
                <a:t>Física</a:t>
              </a:r>
              <a:endParaRPr lang="en-US" dirty="0"/>
            </a:p>
            <a:p>
              <a:endParaRPr lang="en-US" sz="1600" dirty="0"/>
            </a:p>
            <a:p>
              <a:endParaRPr lang="en-US" sz="1600" i="1" dirty="0">
                <a:solidFill>
                  <a:schemeClr val="bg2">
                    <a:lumMod val="10000"/>
                  </a:schemeClr>
                </a:solidFill>
              </a:endParaRPr>
            </a:p>
            <a:p>
              <a:endParaRPr lang="en-US" sz="1600" dirty="0">
                <a:solidFill>
                  <a:schemeClr val="tx1"/>
                </a:solidFill>
              </a:endParaRPr>
            </a:p>
            <a:p>
              <a:endParaRPr lang="en-US" sz="1600" b="1" dirty="0">
                <a:solidFill>
                  <a:srgbClr val="C00000"/>
                </a:solidFill>
              </a:endParaRP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964D5D45-F586-3B4E-3C37-9A1C292410FE}"/>
                </a:ext>
              </a:extLst>
            </p:cNvPr>
            <p:cNvSpPr/>
            <p:nvPr/>
          </p:nvSpPr>
          <p:spPr>
            <a:xfrm>
              <a:off x="338456" y="1302735"/>
              <a:ext cx="60495" cy="902744"/>
            </a:xfrm>
            <a:prstGeom prst="roundRect">
              <a:avLst/>
            </a:prstGeom>
            <a:solidFill>
              <a:srgbClr val="D24726"/>
            </a:solidFill>
            <a:ln>
              <a:solidFill>
                <a:srgbClr val="D24726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Oval 12">
            <a:extLst>
              <a:ext uri="{FF2B5EF4-FFF2-40B4-BE49-F238E27FC236}">
                <a16:creationId xmlns:a16="http://schemas.microsoft.com/office/drawing/2014/main" id="{9E8F3E5C-E0F3-EF80-0857-435AEF1A57E2}"/>
              </a:ext>
            </a:extLst>
          </p:cNvPr>
          <p:cNvSpPr/>
          <p:nvPr/>
        </p:nvSpPr>
        <p:spPr>
          <a:xfrm>
            <a:off x="8561439" y="4864512"/>
            <a:ext cx="693174" cy="361335"/>
          </a:xfrm>
          <a:prstGeom prst="ellipse">
            <a:avLst/>
          </a:prstGeom>
          <a:solidFill>
            <a:srgbClr val="FA9D22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258F1A6-09C9-40CE-995E-B4534981AEF5}"/>
              </a:ext>
            </a:extLst>
          </p:cNvPr>
          <p:cNvGrpSpPr/>
          <p:nvPr/>
        </p:nvGrpSpPr>
        <p:grpSpPr>
          <a:xfrm>
            <a:off x="3858261" y="1253601"/>
            <a:ext cx="7981514" cy="5379545"/>
            <a:chOff x="3858261" y="1253601"/>
            <a:chExt cx="7981514" cy="5379545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D7D973A4-BC6C-0999-2820-6D31FFB55CC1}"/>
                </a:ext>
              </a:extLst>
            </p:cNvPr>
            <p:cNvGrpSpPr/>
            <p:nvPr/>
          </p:nvGrpSpPr>
          <p:grpSpPr>
            <a:xfrm>
              <a:off x="3858261" y="1253601"/>
              <a:ext cx="7981514" cy="5379545"/>
              <a:chOff x="3858261" y="1253601"/>
              <a:chExt cx="7981514" cy="5379545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368032F2-7489-B824-2C28-58A947D4A594}"/>
                  </a:ext>
                </a:extLst>
              </p:cNvPr>
              <p:cNvGrpSpPr/>
              <p:nvPr/>
            </p:nvGrpSpPr>
            <p:grpSpPr>
              <a:xfrm>
                <a:off x="3858261" y="1253601"/>
                <a:ext cx="7981514" cy="5379545"/>
                <a:chOff x="3858261" y="1238852"/>
                <a:chExt cx="7981514" cy="5379545"/>
              </a:xfrm>
            </p:grpSpPr>
            <p:pic>
              <p:nvPicPr>
                <p:cNvPr id="6" name="Picture 5">
                  <a:extLst>
                    <a:ext uri="{FF2B5EF4-FFF2-40B4-BE49-F238E27FC236}">
                      <a16:creationId xmlns:a16="http://schemas.microsoft.com/office/drawing/2014/main" id="{3B0867A2-3FA0-F843-CE61-1FF4B765F64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858261" y="1238852"/>
                  <a:ext cx="7981514" cy="5379545"/>
                </a:xfrm>
                <a:prstGeom prst="rect">
                  <a:avLst/>
                </a:prstGeom>
              </p:spPr>
            </p:pic>
            <p:sp>
              <p:nvSpPr>
                <p:cNvPr id="5" name="Rectangle: Rounded Corners 4">
                  <a:extLst>
                    <a:ext uri="{FF2B5EF4-FFF2-40B4-BE49-F238E27FC236}">
                      <a16:creationId xmlns:a16="http://schemas.microsoft.com/office/drawing/2014/main" id="{865E4B16-DF8E-386B-0212-D573D3A4EB0A}"/>
                    </a:ext>
                  </a:extLst>
                </p:cNvPr>
                <p:cNvSpPr/>
                <p:nvPr/>
              </p:nvSpPr>
              <p:spPr>
                <a:xfrm>
                  <a:off x="4018935" y="6142704"/>
                  <a:ext cx="7757652" cy="361335"/>
                </a:xfrm>
                <a:prstGeom prst="roundRect">
                  <a:avLst/>
                </a:prstGeom>
                <a:noFill/>
                <a:ln w="19050" cap="flat" cmpd="sng" algn="ctr">
                  <a:solidFill>
                    <a:srgbClr val="00B05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" name="Rectangle: Rounded Corners 8">
                  <a:extLst>
                    <a:ext uri="{FF2B5EF4-FFF2-40B4-BE49-F238E27FC236}">
                      <a16:creationId xmlns:a16="http://schemas.microsoft.com/office/drawing/2014/main" id="{D64B4B46-1EB3-80BA-20B5-9B40F9FB833F}"/>
                    </a:ext>
                  </a:extLst>
                </p:cNvPr>
                <p:cNvSpPr/>
                <p:nvPr/>
              </p:nvSpPr>
              <p:spPr>
                <a:xfrm>
                  <a:off x="4018935" y="4849763"/>
                  <a:ext cx="7757652" cy="361335"/>
                </a:xfrm>
                <a:prstGeom prst="roundRect">
                  <a:avLst/>
                </a:prstGeom>
                <a:noFill/>
                <a:ln w="19050" cap="flat" cmpd="sng" algn="ctr">
                  <a:solidFill>
                    <a:srgbClr val="D2472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70BEAF84-6E09-3D36-9AEA-D5A3FD9A265A}"/>
                  </a:ext>
                </a:extLst>
              </p:cNvPr>
              <p:cNvSpPr/>
              <p:nvPr/>
            </p:nvSpPr>
            <p:spPr>
              <a:xfrm>
                <a:off x="6582697" y="6167344"/>
                <a:ext cx="693174" cy="361335"/>
              </a:xfrm>
              <a:prstGeom prst="ellipse">
                <a:avLst/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7E72788-F4D0-161A-4975-C6A3D9CF860B}"/>
                </a:ext>
              </a:extLst>
            </p:cNvPr>
            <p:cNvSpPr/>
            <p:nvPr/>
          </p:nvSpPr>
          <p:spPr>
            <a:xfrm>
              <a:off x="7551174" y="4864511"/>
              <a:ext cx="693174" cy="361335"/>
            </a:xfrm>
            <a:prstGeom prst="ellipse">
              <a:avLst/>
            </a:prstGeom>
            <a:solidFill>
              <a:srgbClr val="FF6E4A">
                <a:alpha val="50000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43032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D6705-776A-7425-4B70-0B87A211D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90EDC3A-BDB8-4650-CADE-DE94DCBC8B37}"/>
              </a:ext>
            </a:extLst>
          </p:cNvPr>
          <p:cNvCxnSpPr>
            <a:cxnSpLocks/>
          </p:cNvCxnSpPr>
          <p:nvPr/>
        </p:nvCxnSpPr>
        <p:spPr>
          <a:xfrm>
            <a:off x="282481" y="1142992"/>
            <a:ext cx="11265506" cy="0"/>
          </a:xfrm>
          <a:prstGeom prst="line">
            <a:avLst/>
          </a:prstGeom>
          <a:ln>
            <a:solidFill>
              <a:srgbClr val="FF6E4A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3D27C01-32BE-D922-2246-F82FA19B55C3}"/>
              </a:ext>
            </a:extLst>
          </p:cNvPr>
          <p:cNvSpPr txBox="1"/>
          <p:nvPr/>
        </p:nvSpPr>
        <p:spPr>
          <a:xfrm>
            <a:off x="121958" y="570714"/>
            <a:ext cx="8616461" cy="830997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r>
              <a:rPr lang="es-ES" sz="2400" b="1" dirty="0">
                <a:latin typeface="Segoe UI"/>
                <a:ea typeface="+mj-lt"/>
                <a:cs typeface="Segoe UI"/>
              </a:rPr>
              <a:t>  Análisis de Fortalezas y </a:t>
            </a:r>
            <a:r>
              <a:rPr lang="en-US" sz="2400" b="1" dirty="0" err="1">
                <a:latin typeface="Segoe UI"/>
                <a:ea typeface="+mj-lt"/>
                <a:cs typeface="Segoe UI"/>
              </a:rPr>
              <a:t>Áreas</a:t>
            </a:r>
            <a:r>
              <a:rPr lang="en-US" sz="2400" b="1" dirty="0">
                <a:latin typeface="Segoe UI"/>
                <a:ea typeface="+mj-lt"/>
                <a:cs typeface="Segoe UI"/>
              </a:rPr>
              <a:t> de </a:t>
            </a:r>
            <a:r>
              <a:rPr lang="en-US" sz="2400" b="1" dirty="0" err="1">
                <a:latin typeface="Segoe UI"/>
                <a:ea typeface="+mj-lt"/>
                <a:cs typeface="Segoe UI"/>
              </a:rPr>
              <a:t>Mejora</a:t>
            </a:r>
            <a:endParaRPr lang="en-US" sz="2400" b="1" dirty="0">
              <a:latin typeface="Segoe UI"/>
              <a:ea typeface="+mj-lt"/>
              <a:cs typeface="Segoe UI"/>
            </a:endParaRPr>
          </a:p>
          <a:p>
            <a:endParaRPr lang="en-US" sz="24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FDA91A8-99A3-D3D0-7832-6F85F03894C9}"/>
              </a:ext>
            </a:extLst>
          </p:cNvPr>
          <p:cNvGrpSpPr/>
          <p:nvPr/>
        </p:nvGrpSpPr>
        <p:grpSpPr>
          <a:xfrm>
            <a:off x="196515" y="1253602"/>
            <a:ext cx="4293039" cy="2276579"/>
            <a:chOff x="305651" y="2322927"/>
            <a:chExt cx="11856795" cy="1008376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3C4DEBBF-825E-7BA2-8992-5F64DF1CB40E}"/>
                </a:ext>
              </a:extLst>
            </p:cNvPr>
            <p:cNvSpPr/>
            <p:nvPr/>
          </p:nvSpPr>
          <p:spPr>
            <a:xfrm>
              <a:off x="305651" y="2322927"/>
              <a:ext cx="11856795" cy="100837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2400" b="1" dirty="0" err="1">
                  <a:solidFill>
                    <a:srgbClr val="005DA2"/>
                  </a:solidFill>
                </a:rPr>
                <a:t>Fortalezas</a:t>
              </a: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 err="1"/>
                <a:t>Compañeros</a:t>
              </a:r>
              <a:r>
                <a:rPr lang="en-US" dirty="0"/>
                <a:t> y </a:t>
              </a:r>
              <a:r>
                <a:rPr lang="en-US" dirty="0" err="1"/>
                <a:t>Aprendizaje</a:t>
              </a:r>
              <a:r>
                <a:rPr lang="en-US" dirty="0"/>
                <a:t> (+1,61 pp)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 err="1"/>
                <a:t>Producto</a:t>
              </a:r>
              <a:r>
                <a:rPr lang="en-US" dirty="0"/>
                <a:t> y </a:t>
              </a:r>
              <a:r>
                <a:rPr lang="en-US" dirty="0" err="1"/>
                <a:t>Descuentos</a:t>
              </a:r>
              <a:r>
                <a:rPr lang="en-US" dirty="0"/>
                <a:t> (+1,22 pp)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 err="1"/>
                <a:t>Gastos</a:t>
              </a:r>
              <a:r>
                <a:rPr lang="en-US" dirty="0"/>
                <a:t> de Delivery (+1.88 pp)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2721B4BA-C3F5-0BCF-3323-117043E02BA0}"/>
                </a:ext>
              </a:extLst>
            </p:cNvPr>
            <p:cNvSpPr/>
            <p:nvPr/>
          </p:nvSpPr>
          <p:spPr>
            <a:xfrm>
              <a:off x="476703" y="2474129"/>
              <a:ext cx="132151" cy="669467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E355755-48E2-7620-0D28-14FCD0EE6D37}"/>
              </a:ext>
            </a:extLst>
          </p:cNvPr>
          <p:cNvGrpSpPr/>
          <p:nvPr/>
        </p:nvGrpSpPr>
        <p:grpSpPr>
          <a:xfrm>
            <a:off x="121958" y="4172936"/>
            <a:ext cx="4442547" cy="2114350"/>
            <a:chOff x="6320949" y="-248045"/>
            <a:chExt cx="5498887" cy="902442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AEE6239D-ABA6-B559-808A-76EA3F950CE4}"/>
                </a:ext>
              </a:extLst>
            </p:cNvPr>
            <p:cNvSpPr/>
            <p:nvPr/>
          </p:nvSpPr>
          <p:spPr>
            <a:xfrm>
              <a:off x="6320949" y="-248045"/>
              <a:ext cx="5498887" cy="902442"/>
            </a:xfrm>
            <a:prstGeom prst="roundRect">
              <a:avLst/>
            </a:prstGeom>
            <a:solidFill>
              <a:srgbClr val="FFF3E7"/>
            </a:solidFill>
            <a:ln>
              <a:solidFill>
                <a:srgbClr val="D24726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2400" b="1" dirty="0">
                <a:solidFill>
                  <a:srgbClr val="C00000"/>
                </a:solidFill>
              </a:endParaRPr>
            </a:p>
            <a:p>
              <a:r>
                <a:rPr lang="en-US" sz="2400" b="1" dirty="0" err="1">
                  <a:solidFill>
                    <a:srgbClr val="C00000"/>
                  </a:solidFill>
                </a:rPr>
                <a:t>Áreas</a:t>
              </a:r>
              <a:r>
                <a:rPr lang="en-US" sz="2400" b="1" dirty="0">
                  <a:solidFill>
                    <a:srgbClr val="C00000"/>
                  </a:solidFill>
                </a:rPr>
                <a:t> de </a:t>
              </a:r>
              <a:r>
                <a:rPr lang="en-US" sz="2400" b="1" dirty="0" err="1">
                  <a:solidFill>
                    <a:srgbClr val="C00000"/>
                  </a:solidFill>
                </a:rPr>
                <a:t>mejoras</a:t>
              </a:r>
              <a:endParaRPr lang="en-US" sz="2400" b="1" dirty="0">
                <a:solidFill>
                  <a:srgbClr val="C00000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 err="1"/>
                <a:t>Beneficios</a:t>
              </a:r>
              <a:r>
                <a:rPr lang="en-US" dirty="0"/>
                <a:t> y </a:t>
              </a:r>
              <a:r>
                <a:rPr lang="en-US" dirty="0" err="1"/>
                <a:t>Flexibilidad</a:t>
              </a:r>
              <a:r>
                <a:rPr lang="en-US" dirty="0"/>
                <a:t> (-3,83 pp)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Salario, </a:t>
              </a:r>
              <a:r>
                <a:rPr lang="en-US" dirty="0" err="1"/>
                <a:t>Horarios</a:t>
              </a:r>
              <a:r>
                <a:rPr lang="en-US" dirty="0"/>
                <a:t> y </a:t>
              </a:r>
              <a:r>
                <a:rPr lang="en-US" dirty="0" err="1"/>
                <a:t>Gestión</a:t>
              </a:r>
              <a:r>
                <a:rPr lang="en-US" dirty="0"/>
                <a:t> (-0,22 pp).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 err="1"/>
                <a:t>Problemas</a:t>
              </a:r>
              <a:r>
                <a:rPr lang="en-US" dirty="0"/>
                <a:t> con la Empresa (-1,01 pp).</a:t>
              </a:r>
            </a:p>
            <a:p>
              <a:endParaRPr lang="en-US" sz="1600" dirty="0">
                <a:solidFill>
                  <a:schemeClr val="tx1"/>
                </a:solidFill>
              </a:endParaRPr>
            </a:p>
            <a:p>
              <a:endParaRPr lang="en-US" sz="1600" b="1" dirty="0">
                <a:solidFill>
                  <a:srgbClr val="C00000"/>
                </a:solidFill>
              </a:endParaRP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35A4A414-4659-AABC-8B34-8748E43B42EC}"/>
                </a:ext>
              </a:extLst>
            </p:cNvPr>
            <p:cNvSpPr/>
            <p:nvPr/>
          </p:nvSpPr>
          <p:spPr>
            <a:xfrm>
              <a:off x="6413234" y="-74134"/>
              <a:ext cx="60495" cy="594731"/>
            </a:xfrm>
            <a:prstGeom prst="roundRect">
              <a:avLst/>
            </a:prstGeom>
            <a:solidFill>
              <a:srgbClr val="D24726"/>
            </a:solidFill>
            <a:ln>
              <a:solidFill>
                <a:srgbClr val="D24726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6FD9D655-21C7-A709-B58C-01E26A8455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0905" y="1253602"/>
            <a:ext cx="7033208" cy="537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127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B7984-4D82-E96A-C35D-3A6270006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099A514-54CD-D1DD-92E7-C204EAA225CB}"/>
              </a:ext>
            </a:extLst>
          </p:cNvPr>
          <p:cNvCxnSpPr>
            <a:cxnSpLocks/>
          </p:cNvCxnSpPr>
          <p:nvPr/>
        </p:nvCxnSpPr>
        <p:spPr>
          <a:xfrm>
            <a:off x="282481" y="1142992"/>
            <a:ext cx="11631491" cy="0"/>
          </a:xfrm>
          <a:prstGeom prst="line">
            <a:avLst/>
          </a:prstGeom>
          <a:ln>
            <a:solidFill>
              <a:srgbClr val="FF6E4A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448E15A-7C5B-76D9-BD1E-D296E21EACC3}"/>
              </a:ext>
            </a:extLst>
          </p:cNvPr>
          <p:cNvSpPr txBox="1"/>
          <p:nvPr/>
        </p:nvSpPr>
        <p:spPr>
          <a:xfrm>
            <a:off x="121958" y="570714"/>
            <a:ext cx="5711029" cy="461665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r>
              <a:rPr lang="es-ES" sz="2400" b="1" dirty="0">
                <a:latin typeface="Segoe UI"/>
                <a:ea typeface="+mj-lt"/>
                <a:cs typeface="Segoe UI"/>
              </a:rPr>
              <a:t>  Análisis de Prioridades</a:t>
            </a:r>
            <a:endParaRPr lang="en-US" sz="24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A28BF97-5D16-2EC6-E139-FDF9C72C130D}"/>
              </a:ext>
            </a:extLst>
          </p:cNvPr>
          <p:cNvGrpSpPr/>
          <p:nvPr/>
        </p:nvGrpSpPr>
        <p:grpSpPr>
          <a:xfrm>
            <a:off x="327365" y="4910248"/>
            <a:ext cx="4997577" cy="1609519"/>
            <a:chOff x="305651" y="2322927"/>
            <a:chExt cx="11856795" cy="1008376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34B3108-CB9D-776B-6DAA-88858BD7A9DC}"/>
                </a:ext>
              </a:extLst>
            </p:cNvPr>
            <p:cNvSpPr/>
            <p:nvPr/>
          </p:nvSpPr>
          <p:spPr>
            <a:xfrm>
              <a:off x="305651" y="2322927"/>
              <a:ext cx="11856795" cy="1008376"/>
            </a:xfrm>
            <a:prstGeom prst="roundRect">
              <a:avLst/>
            </a:prstGeom>
            <a:grpFill/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2400" b="1" dirty="0">
                  <a:solidFill>
                    <a:schemeClr val="accent3">
                      <a:lumMod val="50000"/>
                    </a:schemeClr>
                  </a:solidFill>
                </a:rPr>
                <a:t>Zona Verde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Buen </a:t>
              </a:r>
              <a:r>
                <a:rPr lang="en-US" dirty="0" err="1">
                  <a:solidFill>
                    <a:schemeClr val="tx1"/>
                  </a:solidFill>
                </a:rPr>
                <a:t>clima</a:t>
              </a:r>
              <a:r>
                <a:rPr lang="en-US" dirty="0">
                  <a:solidFill>
                    <a:schemeClr val="tx1"/>
                  </a:solidFill>
                </a:rPr>
                <a:t> </a:t>
              </a:r>
              <a:r>
                <a:rPr lang="en-US" dirty="0" err="1">
                  <a:solidFill>
                    <a:schemeClr val="tx1"/>
                  </a:solidFill>
                </a:rPr>
                <a:t>laboral</a:t>
              </a:r>
              <a:r>
                <a:rPr lang="en-US" dirty="0">
                  <a:solidFill>
                    <a:schemeClr val="tx1"/>
                  </a:solidFill>
                </a:rPr>
                <a:t> y </a:t>
              </a:r>
              <a:r>
                <a:rPr lang="en-US" dirty="0" err="1">
                  <a:solidFill>
                    <a:schemeClr val="tx1"/>
                  </a:solidFill>
                </a:rPr>
                <a:t>Beneficios</a:t>
              </a:r>
              <a:r>
                <a:rPr lang="en-US" dirty="0">
                  <a:solidFill>
                    <a:schemeClr val="tx1"/>
                  </a:solidFill>
                </a:rPr>
                <a:t> </a:t>
              </a:r>
              <a:r>
                <a:rPr lang="en-US" dirty="0" err="1">
                  <a:solidFill>
                    <a:schemeClr val="tx1"/>
                  </a:solidFill>
                </a:rPr>
                <a:t>en</a:t>
              </a:r>
              <a:r>
                <a:rPr lang="en-US" dirty="0">
                  <a:solidFill>
                    <a:schemeClr val="tx1"/>
                  </a:solidFill>
                </a:rPr>
                <a:t> </a:t>
              </a:r>
              <a:r>
                <a:rPr lang="en-US" dirty="0" err="1">
                  <a:solidFill>
                    <a:schemeClr val="tx1"/>
                  </a:solidFill>
                </a:rPr>
                <a:t>Productos</a:t>
              </a:r>
              <a:r>
                <a:rPr lang="en-US" dirty="0">
                  <a:solidFill>
                    <a:schemeClr val="tx1"/>
                  </a:solidFill>
                </a:rPr>
                <a:t>.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Buen </a:t>
              </a:r>
              <a:r>
                <a:rPr lang="en-US" dirty="0" err="1">
                  <a:solidFill>
                    <a:schemeClr val="tx1"/>
                  </a:solidFill>
                </a:rPr>
                <a:t>foco</a:t>
              </a:r>
              <a:r>
                <a:rPr lang="en-US" dirty="0">
                  <a:solidFill>
                    <a:schemeClr val="tx1"/>
                  </a:solidFill>
                </a:rPr>
                <a:t> de </a:t>
              </a:r>
              <a:r>
                <a:rPr lang="en-US" dirty="0" err="1">
                  <a:solidFill>
                    <a:schemeClr val="tx1"/>
                  </a:solidFill>
                </a:rPr>
                <a:t>atracción</a:t>
              </a:r>
              <a:r>
                <a:rPr lang="en-US" dirty="0">
                  <a:solidFill>
                    <a:schemeClr val="tx1"/>
                  </a:solidFill>
                </a:rPr>
                <a:t>, se </a:t>
              </a:r>
              <a:r>
                <a:rPr lang="en-US" dirty="0" err="1">
                  <a:solidFill>
                    <a:schemeClr val="tx1"/>
                  </a:solidFill>
                </a:rPr>
                <a:t>debe</a:t>
              </a:r>
              <a:r>
                <a:rPr lang="en-US" dirty="0">
                  <a:solidFill>
                    <a:schemeClr val="tx1"/>
                  </a:solidFill>
                </a:rPr>
                <a:t> </a:t>
              </a:r>
              <a:r>
                <a:rPr lang="en-US" dirty="0" err="1">
                  <a:solidFill>
                    <a:schemeClr val="tx1"/>
                  </a:solidFill>
                </a:rPr>
                <a:t>potenciar</a:t>
              </a:r>
              <a:r>
                <a:rPr lang="en-US" dirty="0">
                  <a:solidFill>
                    <a:schemeClr val="tx1"/>
                  </a:solidFill>
                </a:rPr>
                <a:t> </a:t>
              </a:r>
              <a:r>
                <a:rPr lang="en-US" dirty="0" err="1">
                  <a:solidFill>
                    <a:schemeClr val="tx1"/>
                  </a:solidFill>
                </a:rPr>
                <a:t>este</a:t>
              </a:r>
              <a:r>
                <a:rPr lang="en-US" dirty="0">
                  <a:solidFill>
                    <a:schemeClr val="tx1"/>
                  </a:solidFill>
                </a:rPr>
                <a:t> punto y </a:t>
              </a:r>
              <a:r>
                <a:rPr lang="en-US" dirty="0" err="1">
                  <a:solidFill>
                    <a:schemeClr val="tx1"/>
                  </a:solidFill>
                </a:rPr>
                <a:t>dar</a:t>
              </a:r>
              <a:r>
                <a:rPr lang="en-US" dirty="0">
                  <a:solidFill>
                    <a:schemeClr val="tx1"/>
                  </a:solidFill>
                </a:rPr>
                <a:t> mas </a:t>
              </a:r>
              <a:r>
                <a:rPr lang="en-US" dirty="0" err="1">
                  <a:solidFill>
                    <a:schemeClr val="tx1"/>
                  </a:solidFill>
                </a:rPr>
                <a:t>visibilidad</a:t>
              </a:r>
              <a:r>
                <a:rPr lang="en-US" dirty="0">
                  <a:solidFill>
                    <a:schemeClr val="tx1"/>
                  </a:solidFill>
                </a:rPr>
                <a:t>.</a:t>
              </a:r>
              <a:endParaRPr lang="en-US" dirty="0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6F5867D6-7440-7C79-6214-71FC0201C18B}"/>
                </a:ext>
              </a:extLst>
            </p:cNvPr>
            <p:cNvSpPr/>
            <p:nvPr/>
          </p:nvSpPr>
          <p:spPr>
            <a:xfrm>
              <a:off x="476704" y="2455348"/>
              <a:ext cx="126270" cy="74917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2F9D034-2126-22D9-2A1C-5CAB72AC4E70}"/>
              </a:ext>
            </a:extLst>
          </p:cNvPr>
          <p:cNvGrpSpPr/>
          <p:nvPr/>
        </p:nvGrpSpPr>
        <p:grpSpPr>
          <a:xfrm>
            <a:off x="232543" y="1215881"/>
            <a:ext cx="5095013" cy="2385609"/>
            <a:chOff x="6682763" y="-84872"/>
            <a:chExt cx="6247281" cy="570307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61702C94-8FF9-99B5-9C16-2E5E62A337F2}"/>
                </a:ext>
              </a:extLst>
            </p:cNvPr>
            <p:cNvSpPr/>
            <p:nvPr/>
          </p:nvSpPr>
          <p:spPr>
            <a:xfrm>
              <a:off x="6682763" y="-84872"/>
              <a:ext cx="6247281" cy="570307"/>
            </a:xfrm>
            <a:prstGeom prst="roundRect">
              <a:avLst/>
            </a:prstGeom>
            <a:solidFill>
              <a:srgbClr val="FAD6DE"/>
            </a:solidFill>
            <a:ln>
              <a:solidFill>
                <a:srgbClr val="D24726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2400" b="1" dirty="0">
                <a:solidFill>
                  <a:srgbClr val="C00000"/>
                </a:solidFill>
              </a:endParaRPr>
            </a:p>
            <a:p>
              <a:r>
                <a:rPr lang="en-US" sz="2400" b="1" dirty="0">
                  <a:solidFill>
                    <a:srgbClr val="C00000"/>
                  </a:solidFill>
                </a:rPr>
                <a:t>Zona Roja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Salario, </a:t>
              </a:r>
              <a:r>
                <a:rPr lang="en-US" dirty="0" err="1">
                  <a:solidFill>
                    <a:schemeClr val="tx1"/>
                  </a:solidFill>
                </a:rPr>
                <a:t>Horarios</a:t>
              </a:r>
              <a:r>
                <a:rPr lang="en-US" dirty="0">
                  <a:solidFill>
                    <a:schemeClr val="tx1"/>
                  </a:solidFill>
                </a:rPr>
                <a:t> y </a:t>
              </a:r>
              <a:r>
                <a:rPr lang="en-US" dirty="0" err="1">
                  <a:solidFill>
                    <a:schemeClr val="tx1"/>
                  </a:solidFill>
                </a:rPr>
                <a:t>Gestión</a:t>
              </a:r>
              <a:endParaRPr lang="en-US" dirty="0">
                <a:solidFill>
                  <a:schemeClr val="tx1"/>
                </a:solidFill>
              </a:endParaRPr>
            </a:p>
            <a:p>
              <a:r>
                <a:rPr lang="en-US" dirty="0">
                  <a:solidFill>
                    <a:schemeClr val="tx1"/>
                  </a:solidFill>
                </a:rPr>
                <a:t>Concentra el 88.2% de las </a:t>
              </a:r>
              <a:r>
                <a:rPr lang="en-US" dirty="0" err="1">
                  <a:solidFill>
                    <a:schemeClr val="tx1"/>
                  </a:solidFill>
                </a:rPr>
                <a:t>quejas</a:t>
              </a:r>
              <a:r>
                <a:rPr lang="en-US" dirty="0">
                  <a:solidFill>
                    <a:schemeClr val="tx1"/>
                  </a:solidFill>
                </a:rPr>
                <a:t> y </a:t>
              </a:r>
              <a:r>
                <a:rPr lang="en-US" dirty="0" err="1">
                  <a:solidFill>
                    <a:schemeClr val="tx1"/>
                  </a:solidFill>
                </a:rPr>
                <a:t>supera</a:t>
              </a:r>
              <a:r>
                <a:rPr lang="en-US" dirty="0">
                  <a:solidFill>
                    <a:schemeClr val="tx1"/>
                  </a:solidFill>
                </a:rPr>
                <a:t> la media del sector.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Es un </a:t>
              </a:r>
              <a:r>
                <a:rPr lang="en-US" dirty="0" err="1">
                  <a:solidFill>
                    <a:schemeClr val="tx1"/>
                  </a:solidFill>
                </a:rPr>
                <a:t>problema</a:t>
              </a:r>
              <a:r>
                <a:rPr lang="en-US" dirty="0">
                  <a:solidFill>
                    <a:schemeClr val="tx1"/>
                  </a:solidFill>
                </a:rPr>
                <a:t> </a:t>
              </a:r>
              <a:r>
                <a:rPr lang="en-US" dirty="0" err="1">
                  <a:solidFill>
                    <a:schemeClr val="tx1"/>
                  </a:solidFill>
                </a:rPr>
                <a:t>que</a:t>
              </a:r>
              <a:r>
                <a:rPr lang="en-US" dirty="0">
                  <a:solidFill>
                    <a:schemeClr val="tx1"/>
                  </a:solidFill>
                </a:rPr>
                <a:t> </a:t>
              </a:r>
              <a:r>
                <a:rPr lang="en-US" dirty="0" err="1">
                  <a:solidFill>
                    <a:schemeClr val="tx1"/>
                  </a:solidFill>
                </a:rPr>
                <a:t>afecta</a:t>
              </a:r>
              <a:r>
                <a:rPr lang="en-US" dirty="0">
                  <a:solidFill>
                    <a:schemeClr val="tx1"/>
                  </a:solidFill>
                </a:rPr>
                <a:t> la </a:t>
              </a:r>
              <a:r>
                <a:rPr lang="en-US" dirty="0" err="1">
                  <a:solidFill>
                    <a:schemeClr val="tx1"/>
                  </a:solidFill>
                </a:rPr>
                <a:t>retención</a:t>
              </a:r>
              <a:r>
                <a:rPr lang="en-US" dirty="0">
                  <a:solidFill>
                    <a:schemeClr val="tx1"/>
                  </a:solidFill>
                </a:rPr>
                <a:t> del personal y require </a:t>
              </a:r>
              <a:r>
                <a:rPr lang="en-US" dirty="0" err="1">
                  <a:solidFill>
                    <a:schemeClr val="tx1"/>
                  </a:solidFill>
                </a:rPr>
                <a:t>aplicar</a:t>
              </a:r>
              <a:r>
                <a:rPr lang="en-US" dirty="0">
                  <a:solidFill>
                    <a:schemeClr val="tx1"/>
                  </a:solidFill>
                </a:rPr>
                <a:t> </a:t>
              </a:r>
              <a:r>
                <a:rPr lang="en-US" dirty="0" err="1">
                  <a:solidFill>
                    <a:schemeClr val="tx1"/>
                  </a:solidFill>
                </a:rPr>
                <a:t>medidas</a:t>
              </a:r>
              <a:r>
                <a:rPr lang="en-US" dirty="0">
                  <a:solidFill>
                    <a:schemeClr val="tx1"/>
                  </a:solidFill>
                </a:rPr>
                <a:t>.</a:t>
              </a:r>
            </a:p>
            <a:p>
              <a:endParaRPr lang="en-US" sz="1600" dirty="0">
                <a:solidFill>
                  <a:schemeClr val="tx1"/>
                </a:solidFill>
              </a:endParaRPr>
            </a:p>
            <a:p>
              <a:endParaRPr lang="en-US" sz="1600" b="1" dirty="0">
                <a:solidFill>
                  <a:srgbClr val="C00000"/>
                </a:solidFill>
              </a:endParaRP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A2ACCF12-E1E8-BD69-CF7F-4B9590734F43}"/>
                </a:ext>
              </a:extLst>
            </p:cNvPr>
            <p:cNvSpPr/>
            <p:nvPr/>
          </p:nvSpPr>
          <p:spPr>
            <a:xfrm>
              <a:off x="6738535" y="-8952"/>
              <a:ext cx="56059" cy="416420"/>
            </a:xfrm>
            <a:prstGeom prst="roundRect">
              <a:avLst/>
            </a:prstGeom>
            <a:solidFill>
              <a:srgbClr val="D24726"/>
            </a:solidFill>
            <a:ln>
              <a:solidFill>
                <a:srgbClr val="D24726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6117FB5F-91CE-DF2D-6AC3-4888B3756547}"/>
              </a:ext>
            </a:extLst>
          </p:cNvPr>
          <p:cNvGrpSpPr/>
          <p:nvPr/>
        </p:nvGrpSpPr>
        <p:grpSpPr>
          <a:xfrm>
            <a:off x="278028" y="3744867"/>
            <a:ext cx="5095013" cy="1022004"/>
            <a:chOff x="305651" y="2322927"/>
            <a:chExt cx="11856795" cy="611547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DD0CD256-064D-7E70-95BF-32EE7E1B2B2F}"/>
                </a:ext>
              </a:extLst>
            </p:cNvPr>
            <p:cNvSpPr/>
            <p:nvPr/>
          </p:nvSpPr>
          <p:spPr>
            <a:xfrm>
              <a:off x="305651" y="2322927"/>
              <a:ext cx="11856795" cy="611547"/>
            </a:xfrm>
            <a:prstGeom prst="roundRect">
              <a:avLst/>
            </a:prstGeom>
            <a:solidFill>
              <a:srgbClr val="FAE3C2"/>
            </a:solidFill>
            <a:ln>
              <a:solidFill>
                <a:srgbClr val="FFC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2400" b="1" dirty="0">
                  <a:solidFill>
                    <a:srgbClr val="C57603"/>
                  </a:solidFill>
                </a:rPr>
                <a:t>Zona Naranja</a:t>
              </a:r>
              <a:endParaRPr lang="en-US" dirty="0">
                <a:solidFill>
                  <a:srgbClr val="C57603"/>
                </a:solidFill>
              </a:endParaRPr>
            </a:p>
            <a:p>
              <a:r>
                <a:rPr lang="en-US" dirty="0" err="1">
                  <a:solidFill>
                    <a:schemeClr val="tx1"/>
                  </a:solidFill>
                </a:rPr>
                <a:t>Problemas</a:t>
              </a:r>
              <a:r>
                <a:rPr lang="en-US" dirty="0">
                  <a:solidFill>
                    <a:schemeClr val="tx1"/>
                  </a:solidFill>
                </a:rPr>
                <a:t> con la Empresa (4.6% del </a:t>
              </a:r>
              <a:r>
                <a:rPr lang="en-US" dirty="0" err="1">
                  <a:solidFill>
                    <a:schemeClr val="tx1"/>
                  </a:solidFill>
                </a:rPr>
                <a:t>volumen</a:t>
              </a:r>
              <a:r>
                <a:rPr lang="en-US" dirty="0">
                  <a:solidFill>
                    <a:schemeClr val="tx1"/>
                  </a:solidFill>
                </a:rPr>
                <a:t>)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D630475-1B83-03F3-2C11-D2607789BCBD}"/>
                </a:ext>
              </a:extLst>
            </p:cNvPr>
            <p:cNvSpPr/>
            <p:nvPr/>
          </p:nvSpPr>
          <p:spPr>
            <a:xfrm>
              <a:off x="372051" y="2410157"/>
              <a:ext cx="138921" cy="412366"/>
            </a:xfrm>
            <a:prstGeom prst="roundRect">
              <a:avLst/>
            </a:prstGeom>
            <a:solidFill>
              <a:srgbClr val="FA9D22"/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BA01939C-07BB-456C-B383-0F1871F241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6280" y="1253605"/>
            <a:ext cx="6387692" cy="526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156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40A13-4942-E0DC-830E-7090E57DE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5077C81-AD4F-DE0C-90AD-22F0FC6C157F}"/>
              </a:ext>
            </a:extLst>
          </p:cNvPr>
          <p:cNvCxnSpPr>
            <a:cxnSpLocks/>
          </p:cNvCxnSpPr>
          <p:nvPr/>
        </p:nvCxnSpPr>
        <p:spPr>
          <a:xfrm>
            <a:off x="282481" y="1142992"/>
            <a:ext cx="11631491" cy="0"/>
          </a:xfrm>
          <a:prstGeom prst="line">
            <a:avLst/>
          </a:prstGeom>
          <a:ln>
            <a:solidFill>
              <a:srgbClr val="FF6E4A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9A0FF78-B8D5-AE8E-98D5-737640C837F9}"/>
              </a:ext>
            </a:extLst>
          </p:cNvPr>
          <p:cNvSpPr txBox="1"/>
          <p:nvPr/>
        </p:nvSpPr>
        <p:spPr>
          <a:xfrm>
            <a:off x="121958" y="570714"/>
            <a:ext cx="5711029" cy="461665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r>
              <a:rPr lang="es-ES" sz="2400" b="1" dirty="0">
                <a:latin typeface="Segoe UI"/>
                <a:ea typeface="+mj-lt"/>
                <a:cs typeface="Segoe UI"/>
              </a:rPr>
              <a:t>  </a:t>
            </a:r>
            <a:r>
              <a:rPr lang="es-ES" sz="2400" b="1" dirty="0" err="1">
                <a:latin typeface="Segoe UI"/>
                <a:ea typeface="+mj-lt"/>
                <a:cs typeface="Segoe UI"/>
              </a:rPr>
              <a:t>Concluciones</a:t>
            </a:r>
            <a:r>
              <a:rPr lang="es-ES" sz="2400" b="1" dirty="0">
                <a:latin typeface="Segoe UI"/>
                <a:ea typeface="+mj-lt"/>
                <a:cs typeface="Segoe UI"/>
              </a:rPr>
              <a:t> y Recomendaciones</a:t>
            </a:r>
            <a:endParaRPr lang="en-US" sz="24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D6155BC-AD16-449A-F417-65417E43D303}"/>
              </a:ext>
            </a:extLst>
          </p:cNvPr>
          <p:cNvGrpSpPr/>
          <p:nvPr/>
        </p:nvGrpSpPr>
        <p:grpSpPr>
          <a:xfrm>
            <a:off x="212799" y="4309674"/>
            <a:ext cx="11631490" cy="2282262"/>
            <a:chOff x="4530016" y="1899713"/>
            <a:chExt cx="8697917" cy="804264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552DE43C-5F33-0D8D-858C-B1A0F03556F9}"/>
                </a:ext>
              </a:extLst>
            </p:cNvPr>
            <p:cNvSpPr/>
            <p:nvPr/>
          </p:nvSpPr>
          <p:spPr>
            <a:xfrm>
              <a:off x="4530016" y="1899713"/>
              <a:ext cx="8697917" cy="804264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b="1" dirty="0" err="1">
                  <a:solidFill>
                    <a:srgbClr val="006EBD"/>
                  </a:solidFill>
                </a:rPr>
                <a:t>Recomendaciones</a:t>
              </a:r>
              <a:r>
                <a:rPr lang="en-US" b="1" dirty="0">
                  <a:solidFill>
                    <a:srgbClr val="006EBD"/>
                  </a:solidFill>
                </a:rPr>
                <a:t>:</a:t>
              </a:r>
            </a:p>
            <a:p>
              <a:r>
                <a:rPr lang="en-US" dirty="0"/>
                <a:t>Bonos de </a:t>
              </a:r>
              <a:r>
                <a:rPr lang="en-US" dirty="0" err="1"/>
                <a:t>Permanencia</a:t>
              </a:r>
              <a:r>
                <a:rPr lang="en-US" dirty="0"/>
                <a:t> </a:t>
              </a:r>
              <a:r>
                <a:rPr lang="en-US" dirty="0" err="1"/>
                <a:t>Crítica</a:t>
              </a:r>
              <a:r>
                <a:rPr lang="en-US" dirty="0"/>
                <a:t>: </a:t>
              </a:r>
              <a:r>
                <a:rPr lang="en-US" dirty="0" err="1"/>
                <a:t>Implantar</a:t>
              </a:r>
              <a:r>
                <a:rPr lang="en-US" dirty="0"/>
                <a:t> un </a:t>
              </a:r>
              <a:r>
                <a:rPr lang="en-US" dirty="0" err="1"/>
                <a:t>esquema</a:t>
              </a:r>
              <a:r>
                <a:rPr lang="en-US" dirty="0"/>
                <a:t> de </a:t>
              </a:r>
              <a:r>
                <a:rPr lang="en-US" dirty="0" err="1"/>
                <a:t>incentivos</a:t>
              </a:r>
              <a:r>
                <a:rPr lang="en-US" dirty="0"/>
                <a:t> </a:t>
              </a:r>
              <a:r>
                <a:rPr lang="en-US" dirty="0" err="1"/>
                <a:t>económicos</a:t>
              </a:r>
              <a:r>
                <a:rPr lang="en-US" dirty="0"/>
                <a:t> </a:t>
              </a:r>
              <a:r>
                <a:rPr lang="en-US" dirty="0" err="1"/>
                <a:t>por</a:t>
              </a:r>
              <a:r>
                <a:rPr lang="en-US" dirty="0"/>
                <a:t> </a:t>
              </a:r>
              <a:r>
                <a:rPr lang="en-US" dirty="0" err="1"/>
                <a:t>antigüedad</a:t>
              </a:r>
              <a:r>
                <a:rPr lang="en-US" dirty="0"/>
                <a:t>.</a:t>
              </a:r>
            </a:p>
            <a:p>
              <a:r>
                <a:rPr lang="en-US" dirty="0"/>
                <a:t>Bonus de </a:t>
              </a:r>
              <a:r>
                <a:rPr lang="en-US" dirty="0" err="1"/>
                <a:t>Rendimiento</a:t>
              </a:r>
              <a:r>
                <a:rPr lang="en-US" dirty="0"/>
                <a:t> </a:t>
              </a:r>
              <a:r>
                <a:rPr lang="en-US" dirty="0" err="1"/>
                <a:t>Operativo</a:t>
              </a:r>
              <a:r>
                <a:rPr lang="en-US" dirty="0"/>
                <a:t> </a:t>
              </a:r>
              <a:r>
                <a:rPr lang="en-US" dirty="0" err="1"/>
                <a:t>Compartido</a:t>
              </a:r>
              <a:r>
                <a:rPr lang="en-US" dirty="0"/>
                <a:t>: Crear un </a:t>
              </a:r>
              <a:r>
                <a:rPr lang="en-US" dirty="0" err="1"/>
                <a:t>incentivo</a:t>
              </a:r>
              <a:r>
                <a:rPr lang="en-US" dirty="0"/>
                <a:t> </a:t>
              </a:r>
              <a:r>
                <a:rPr lang="en-US" dirty="0" err="1"/>
                <a:t>mensual</a:t>
              </a:r>
              <a:r>
                <a:rPr lang="en-US" dirty="0"/>
                <a:t> </a:t>
              </a:r>
              <a:r>
                <a:rPr lang="en-US" dirty="0" err="1"/>
                <a:t>ligado</a:t>
              </a:r>
              <a:r>
                <a:rPr lang="en-US" dirty="0"/>
                <a:t> a la </a:t>
              </a:r>
              <a:r>
                <a:rPr lang="en-US" dirty="0" err="1"/>
                <a:t>productividad</a:t>
              </a:r>
              <a:r>
                <a:rPr lang="en-US" dirty="0"/>
                <a:t>, </a:t>
              </a:r>
              <a:r>
                <a:rPr lang="en-US" dirty="0" err="1"/>
                <a:t>ventas</a:t>
              </a:r>
              <a:r>
                <a:rPr lang="en-US" dirty="0"/>
                <a:t> y </a:t>
              </a:r>
              <a:r>
                <a:rPr lang="en-US" dirty="0" err="1"/>
                <a:t>tiempos</a:t>
              </a:r>
              <a:r>
                <a:rPr lang="en-US" dirty="0"/>
                <a:t> de </a:t>
              </a:r>
              <a:r>
                <a:rPr lang="en-US" dirty="0" err="1"/>
                <a:t>servicio</a:t>
              </a:r>
              <a:r>
                <a:rPr lang="en-US" dirty="0"/>
                <a:t>.</a:t>
              </a:r>
              <a:endParaRPr lang="en-US" b="1" dirty="0">
                <a:solidFill>
                  <a:srgbClr val="006EBD"/>
                </a:solidFill>
              </a:endParaRPr>
            </a:p>
            <a:p>
              <a:r>
                <a:rPr lang="en-US" dirty="0" err="1"/>
                <a:t>Previsibilidad</a:t>
              </a:r>
              <a:r>
                <a:rPr lang="en-US" dirty="0"/>
                <a:t> </a:t>
              </a:r>
              <a:r>
                <a:rPr lang="en-US" dirty="0" err="1"/>
                <a:t>Horaria</a:t>
              </a:r>
              <a:r>
                <a:rPr lang="en-US" dirty="0"/>
                <a:t>: </a:t>
              </a:r>
              <a:r>
                <a:rPr lang="en-US" dirty="0" err="1"/>
                <a:t>Publicar</a:t>
              </a:r>
              <a:r>
                <a:rPr lang="en-US" dirty="0"/>
                <a:t> </a:t>
              </a:r>
              <a:r>
                <a:rPr lang="en-US" dirty="0" err="1"/>
                <a:t>los</a:t>
              </a:r>
              <a:r>
                <a:rPr lang="en-US" dirty="0"/>
                <a:t> </a:t>
              </a:r>
              <a:r>
                <a:rPr lang="en-US" dirty="0" err="1"/>
                <a:t>cuadrantes</a:t>
              </a:r>
              <a:r>
                <a:rPr lang="en-US" dirty="0"/>
                <a:t> de </a:t>
              </a:r>
              <a:r>
                <a:rPr lang="en-US" dirty="0" err="1"/>
                <a:t>turnos</a:t>
              </a:r>
              <a:r>
                <a:rPr lang="en-US" dirty="0"/>
                <a:t> </a:t>
              </a:r>
              <a:r>
                <a:rPr lang="en-US" dirty="0" err="1"/>
                <a:t>rotativos</a:t>
              </a:r>
              <a:r>
                <a:rPr lang="en-US" dirty="0"/>
                <a:t> con </a:t>
              </a:r>
              <a:r>
                <a:rPr lang="en-US" dirty="0" err="1"/>
                <a:t>semanas</a:t>
              </a:r>
              <a:r>
                <a:rPr lang="en-US" dirty="0"/>
                <a:t> de </a:t>
              </a:r>
              <a:r>
                <a:rPr lang="en-US" dirty="0" err="1"/>
                <a:t>antelación</a:t>
              </a:r>
              <a:r>
                <a:rPr lang="en-US" dirty="0"/>
                <a:t> para </a:t>
              </a:r>
              <a:r>
                <a:rPr lang="en-US" dirty="0" err="1"/>
                <a:t>facilitar</a:t>
              </a:r>
              <a:r>
                <a:rPr lang="en-US" dirty="0"/>
                <a:t> la </a:t>
              </a:r>
              <a:r>
                <a:rPr lang="en-US" dirty="0" err="1"/>
                <a:t>conciliación</a:t>
              </a:r>
              <a:r>
                <a:rPr lang="en-US" dirty="0"/>
                <a:t>.</a:t>
              </a:r>
            </a:p>
            <a:p>
              <a:r>
                <a:rPr lang="en-US" dirty="0" err="1"/>
                <a:t>Implementar</a:t>
              </a:r>
              <a:r>
                <a:rPr lang="en-US" dirty="0"/>
                <a:t> </a:t>
              </a:r>
              <a:r>
                <a:rPr lang="en-US" dirty="0" err="1"/>
                <a:t>programas</a:t>
              </a:r>
              <a:r>
                <a:rPr lang="en-US" dirty="0"/>
                <a:t> de </a:t>
              </a:r>
              <a:r>
                <a:rPr lang="en-US" dirty="0" err="1"/>
                <a:t>capacitación</a:t>
              </a:r>
              <a:r>
                <a:rPr lang="en-US" dirty="0"/>
                <a:t> para </a:t>
              </a:r>
              <a:r>
                <a:rPr lang="en-US" dirty="0" err="1"/>
                <a:t>los</a:t>
              </a:r>
              <a:r>
                <a:rPr lang="en-US" dirty="0"/>
                <a:t> Store Managers </a:t>
              </a:r>
              <a:r>
                <a:rPr lang="en-US" dirty="0" err="1"/>
                <a:t>en</a:t>
              </a:r>
              <a:r>
                <a:rPr lang="en-US" dirty="0"/>
                <a:t> </a:t>
              </a:r>
              <a:r>
                <a:rPr lang="en-US" dirty="0" err="1"/>
                <a:t>gestión</a:t>
              </a:r>
              <a:r>
                <a:rPr lang="en-US" dirty="0"/>
                <a:t> de </a:t>
              </a:r>
              <a:r>
                <a:rPr lang="en-US" dirty="0" err="1"/>
                <a:t>equipos</a:t>
              </a:r>
              <a:r>
                <a:rPr lang="en-US" dirty="0"/>
                <a:t> y </a:t>
              </a:r>
              <a:r>
                <a:rPr lang="en-US" dirty="0" err="1"/>
                <a:t>resolución</a:t>
              </a:r>
              <a:r>
                <a:rPr lang="en-US" dirty="0"/>
                <a:t> de </a:t>
              </a:r>
              <a:r>
                <a:rPr lang="en-US" dirty="0" err="1"/>
                <a:t>conflictos</a:t>
              </a:r>
              <a:r>
                <a:rPr lang="en-US" dirty="0"/>
                <a:t>.</a:t>
              </a:r>
            </a:p>
            <a:p>
              <a:endParaRPr lang="en-US" sz="1600" dirty="0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4D511E34-6722-8AE5-8CAF-F6DE50EB9945}"/>
                </a:ext>
              </a:extLst>
            </p:cNvPr>
            <p:cNvSpPr/>
            <p:nvPr/>
          </p:nvSpPr>
          <p:spPr>
            <a:xfrm>
              <a:off x="4559512" y="2207001"/>
              <a:ext cx="45719" cy="399422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FEEB284-6E88-3114-9756-C204E29E32ED}"/>
              </a:ext>
            </a:extLst>
          </p:cNvPr>
          <p:cNvGrpSpPr/>
          <p:nvPr/>
        </p:nvGrpSpPr>
        <p:grpSpPr>
          <a:xfrm>
            <a:off x="252243" y="2683541"/>
            <a:ext cx="11633717" cy="1408772"/>
            <a:chOff x="282481" y="1253607"/>
            <a:chExt cx="5498887" cy="929393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6B56E03-D5C4-512A-60F1-FD76419C00C5}"/>
                </a:ext>
              </a:extLst>
            </p:cNvPr>
            <p:cNvSpPr/>
            <p:nvPr/>
          </p:nvSpPr>
          <p:spPr>
            <a:xfrm>
              <a:off x="282481" y="1253607"/>
              <a:ext cx="5498887" cy="929393"/>
            </a:xfrm>
            <a:prstGeom prst="roundRect">
              <a:avLst/>
            </a:prstGeom>
            <a:solidFill>
              <a:srgbClr val="FFF3E7"/>
            </a:solidFill>
            <a:ln>
              <a:solidFill>
                <a:srgbClr val="D24726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b="1" dirty="0">
                <a:solidFill>
                  <a:srgbClr val="C00000"/>
                </a:solidFill>
              </a:endParaRPr>
            </a:p>
            <a:p>
              <a:r>
                <a:rPr lang="en-US" b="1" dirty="0">
                  <a:solidFill>
                    <a:srgbClr val="C00000"/>
                  </a:solidFill>
                </a:rPr>
                <a:t>Areas de </a:t>
              </a:r>
              <a:r>
                <a:rPr lang="en-US" b="1" dirty="0" err="1">
                  <a:solidFill>
                    <a:srgbClr val="C00000"/>
                  </a:solidFill>
                </a:rPr>
                <a:t>Mejora</a:t>
              </a:r>
              <a:r>
                <a:rPr lang="en-US" b="1" dirty="0">
                  <a:solidFill>
                    <a:srgbClr val="C00000"/>
                  </a:solidFill>
                </a:rPr>
                <a:t>:</a:t>
              </a:r>
            </a:p>
            <a:p>
              <a:r>
                <a:rPr lang="en-US" dirty="0"/>
                <a:t>Salario, </a:t>
              </a:r>
              <a:r>
                <a:rPr lang="en-US" dirty="0" err="1"/>
                <a:t>Horarios</a:t>
              </a:r>
              <a:r>
                <a:rPr lang="en-US" dirty="0"/>
                <a:t> y </a:t>
              </a:r>
              <a:r>
                <a:rPr lang="en-US" dirty="0" err="1"/>
                <a:t>Liderazgo</a:t>
              </a:r>
              <a:r>
                <a:rPr lang="en-US" dirty="0"/>
                <a:t>: Es el principal </a:t>
              </a:r>
              <a:r>
                <a:rPr lang="en-US" dirty="0" err="1"/>
                <a:t>foco</a:t>
              </a:r>
              <a:r>
                <a:rPr lang="en-US" dirty="0"/>
                <a:t> de </a:t>
              </a:r>
              <a:r>
                <a:rPr lang="en-US" dirty="0" err="1"/>
                <a:t>insatisfacción</a:t>
              </a:r>
              <a:r>
                <a:rPr lang="en-US" dirty="0"/>
                <a:t> interna (88.2% de </a:t>
              </a:r>
              <a:r>
                <a:rPr lang="en-US" dirty="0" err="1"/>
                <a:t>quejas</a:t>
              </a:r>
              <a:r>
                <a:rPr lang="en-US" dirty="0"/>
                <a:t>) y ala </a:t>
              </a:r>
              <a:r>
                <a:rPr lang="en-US" dirty="0" err="1"/>
                <a:t>vez</a:t>
              </a:r>
              <a:r>
                <a:rPr lang="en-US" dirty="0"/>
                <a:t> </a:t>
              </a:r>
              <a:r>
                <a:rPr lang="en-US" dirty="0" err="1"/>
                <a:t>en</a:t>
              </a:r>
              <a:r>
                <a:rPr lang="en-US" dirty="0"/>
                <a:t> el sector.</a:t>
              </a:r>
            </a:p>
            <a:p>
              <a:r>
                <a:rPr lang="en-US" dirty="0" err="1"/>
                <a:t>Beneficios</a:t>
              </a:r>
              <a:r>
                <a:rPr lang="en-US" dirty="0"/>
                <a:t> y </a:t>
              </a:r>
              <a:r>
                <a:rPr lang="en-US" dirty="0" err="1"/>
                <a:t>Flexibilidad</a:t>
              </a:r>
              <a:r>
                <a:rPr lang="en-US" dirty="0"/>
                <a:t>: </a:t>
              </a:r>
              <a:r>
                <a:rPr lang="en-US" dirty="0" err="1"/>
                <a:t>Aunque</a:t>
              </a:r>
              <a:r>
                <a:rPr lang="en-US" dirty="0"/>
                <a:t> es un </a:t>
              </a:r>
              <a:r>
                <a:rPr lang="en-US" dirty="0" err="1"/>
                <a:t>tema</a:t>
              </a:r>
              <a:r>
                <a:rPr lang="en-US" dirty="0"/>
                <a:t> </a:t>
              </a:r>
              <a:r>
                <a:rPr lang="en-US" dirty="0" err="1"/>
                <a:t>elogiado</a:t>
              </a:r>
              <a:r>
                <a:rPr lang="en-US" dirty="0"/>
                <a:t> </a:t>
              </a:r>
              <a:r>
                <a:rPr lang="en-US" dirty="0" err="1"/>
                <a:t>internamente</a:t>
              </a:r>
              <a:r>
                <a:rPr lang="en-US" dirty="0"/>
                <a:t> </a:t>
              </a:r>
              <a:r>
                <a:rPr lang="en-US" dirty="0" err="1"/>
                <a:t>en</a:t>
              </a:r>
              <a:r>
                <a:rPr lang="en-US" dirty="0"/>
                <a:t> KFC, </a:t>
              </a:r>
              <a:r>
                <a:rPr lang="en-US" dirty="0" err="1"/>
                <a:t>los</a:t>
              </a:r>
              <a:r>
                <a:rPr lang="en-US" dirty="0"/>
                <a:t> </a:t>
              </a:r>
              <a:r>
                <a:rPr lang="en-US" dirty="0" err="1"/>
                <a:t>competidores</a:t>
              </a:r>
              <a:r>
                <a:rPr lang="en-US" dirty="0"/>
                <a:t> (Starbucks/McDonald's) </a:t>
              </a:r>
              <a:r>
                <a:rPr lang="en-US" dirty="0" err="1"/>
                <a:t>posicionan</a:t>
              </a:r>
              <a:r>
                <a:rPr lang="en-US" dirty="0"/>
                <a:t> con mayor </a:t>
              </a:r>
              <a:r>
                <a:rPr lang="en-US" dirty="0" err="1"/>
                <a:t>atractivo</a:t>
              </a:r>
              <a:r>
                <a:rPr lang="en-US" dirty="0"/>
                <a:t> </a:t>
              </a:r>
              <a:r>
                <a:rPr lang="en-US" dirty="0" err="1"/>
                <a:t>en</a:t>
              </a:r>
              <a:r>
                <a:rPr lang="en-US" dirty="0"/>
                <a:t> el mercado.</a:t>
              </a:r>
            </a:p>
            <a:p>
              <a:r>
                <a:rPr lang="en-US" sz="1600" dirty="0"/>
                <a:t>.</a:t>
              </a:r>
              <a:endParaRPr lang="en-US" dirty="0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B58A3C6D-06BE-AFAB-F307-2A9BC9730733}"/>
                </a:ext>
              </a:extLst>
            </p:cNvPr>
            <p:cNvSpPr/>
            <p:nvPr/>
          </p:nvSpPr>
          <p:spPr>
            <a:xfrm>
              <a:off x="306204" y="1346487"/>
              <a:ext cx="21610" cy="786857"/>
            </a:xfrm>
            <a:prstGeom prst="roundRect">
              <a:avLst/>
            </a:prstGeom>
            <a:solidFill>
              <a:srgbClr val="D24726"/>
            </a:solidFill>
            <a:ln>
              <a:solidFill>
                <a:srgbClr val="D24726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ACD94B4-4FEF-3DB3-DD04-D6AD1D60350C}"/>
              </a:ext>
            </a:extLst>
          </p:cNvPr>
          <p:cNvGrpSpPr/>
          <p:nvPr/>
        </p:nvGrpSpPr>
        <p:grpSpPr>
          <a:xfrm>
            <a:off x="259909" y="1253607"/>
            <a:ext cx="11584380" cy="1272236"/>
            <a:chOff x="305651" y="2322927"/>
            <a:chExt cx="27484043" cy="1008376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5A1205F5-2B35-97BF-8B54-D832CBAE887D}"/>
                </a:ext>
              </a:extLst>
            </p:cNvPr>
            <p:cNvSpPr/>
            <p:nvPr/>
          </p:nvSpPr>
          <p:spPr>
            <a:xfrm>
              <a:off x="305651" y="2322927"/>
              <a:ext cx="27484043" cy="1008376"/>
            </a:xfrm>
            <a:prstGeom prst="roundRect">
              <a:avLst/>
            </a:prstGeom>
            <a:grpFill/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chemeClr val="accent3">
                      <a:lumMod val="50000"/>
                    </a:schemeClr>
                  </a:solidFill>
                </a:rPr>
                <a:t>Puntos Fuertes</a:t>
              </a:r>
              <a:r>
                <a:rPr lang="en-US" dirty="0"/>
                <a:t>: </a:t>
              </a:r>
            </a:p>
            <a:p>
              <a:r>
                <a:rPr lang="en-US" b="1" dirty="0"/>
                <a:t>Buen </a:t>
              </a:r>
              <a:r>
                <a:rPr lang="en-US" b="1" dirty="0" err="1"/>
                <a:t>Clima</a:t>
              </a:r>
              <a:r>
                <a:rPr lang="en-US" b="1" dirty="0"/>
                <a:t> Laboral: </a:t>
              </a:r>
              <a:r>
                <a:rPr lang="en-US" dirty="0"/>
                <a:t>es la principal </a:t>
              </a:r>
              <a:r>
                <a:rPr lang="en-US" dirty="0" err="1"/>
                <a:t>fortaleza</a:t>
              </a:r>
              <a:r>
                <a:rPr lang="en-US" dirty="0"/>
                <a:t> </a:t>
              </a:r>
              <a:r>
                <a:rPr lang="en-US" dirty="0" err="1"/>
                <a:t>diferencial</a:t>
              </a:r>
              <a:r>
                <a:rPr lang="en-US" dirty="0"/>
                <a:t> de KFC </a:t>
              </a:r>
              <a:r>
                <a:rPr lang="en-US" dirty="0" err="1"/>
                <a:t>frente</a:t>
              </a:r>
              <a:r>
                <a:rPr lang="en-US" dirty="0"/>
                <a:t> a la </a:t>
              </a:r>
              <a:r>
                <a:rPr lang="en-US" dirty="0" err="1"/>
                <a:t>competencia</a:t>
              </a:r>
              <a:r>
                <a:rPr lang="en-US" dirty="0"/>
                <a:t>(+1.61 pp vs peers).</a:t>
              </a:r>
            </a:p>
            <a:p>
              <a:r>
                <a:rPr lang="en-US" b="1" dirty="0" err="1"/>
                <a:t>Beneficios</a:t>
              </a:r>
              <a:r>
                <a:rPr lang="en-US" b="1" dirty="0"/>
                <a:t> </a:t>
              </a:r>
              <a:r>
                <a:rPr lang="en-US" b="1" dirty="0" err="1"/>
                <a:t>en</a:t>
              </a:r>
              <a:r>
                <a:rPr lang="en-US" b="1" dirty="0"/>
                <a:t> </a:t>
              </a:r>
              <a:r>
                <a:rPr lang="en-US" b="1" dirty="0" err="1"/>
                <a:t>Producto</a:t>
              </a:r>
              <a:r>
                <a:rPr lang="en-US" b="1" dirty="0"/>
                <a:t>: </a:t>
              </a:r>
              <a:r>
                <a:rPr lang="en-US" dirty="0"/>
                <a:t>comida y </a:t>
              </a:r>
              <a:r>
                <a:rPr lang="en-US" dirty="0" err="1"/>
                <a:t>descuentos</a:t>
              </a:r>
              <a:r>
                <a:rPr lang="en-US" dirty="0"/>
                <a:t> son un </a:t>
              </a:r>
              <a:r>
                <a:rPr lang="en-US" dirty="0" err="1"/>
                <a:t>incentivo</a:t>
              </a:r>
              <a:r>
                <a:rPr lang="en-US" dirty="0"/>
                <a:t> </a:t>
              </a:r>
              <a:r>
                <a:rPr lang="en-US" dirty="0" err="1"/>
                <a:t>muy</a:t>
              </a:r>
              <a:r>
                <a:rPr lang="en-US" dirty="0"/>
                <a:t> </a:t>
              </a:r>
              <a:r>
                <a:rPr lang="en-US" dirty="0" err="1"/>
                <a:t>valorado</a:t>
              </a:r>
              <a:r>
                <a:rPr lang="en-US" dirty="0"/>
                <a:t> </a:t>
              </a:r>
              <a:r>
                <a:rPr lang="en-US" dirty="0" err="1"/>
                <a:t>por</a:t>
              </a:r>
              <a:r>
                <a:rPr lang="en-US" dirty="0"/>
                <a:t> la </a:t>
              </a:r>
              <a:r>
                <a:rPr lang="en-US" dirty="0" err="1"/>
                <a:t>plantilla</a:t>
              </a:r>
              <a:r>
                <a:rPr lang="en-US" dirty="0"/>
                <a:t>(+1.22 pp vs peers).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BD5DEC7D-7C86-C821-1E23-5058444E6AEE}"/>
                </a:ext>
              </a:extLst>
            </p:cNvPr>
            <p:cNvSpPr/>
            <p:nvPr/>
          </p:nvSpPr>
          <p:spPr>
            <a:xfrm>
              <a:off x="423358" y="2455348"/>
              <a:ext cx="126270" cy="74917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6538588"/>
      </p:ext>
    </p:extLst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79204FA-3D60-46E3-A86C-8531D05CC7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09B0F52-5F62-4EC2-B546-E9BED4FA103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720CE6F-0945-4471-BFFD-1CBA8ED44803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803</TotalTime>
  <Words>1871</Words>
  <Application>Microsoft Office PowerPoint</Application>
  <PresentationFormat>Widescreen</PresentationFormat>
  <Paragraphs>183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Felix Titling</vt:lpstr>
      <vt:lpstr>Goudy Old Style</vt:lpstr>
      <vt:lpstr>Segoe UI</vt:lpstr>
      <vt:lpstr>Archway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MElena Carralero</dc:creator>
  <cp:lastModifiedBy>Jose Enrique Saura Guerra</cp:lastModifiedBy>
  <cp:revision>675</cp:revision>
  <dcterms:created xsi:type="dcterms:W3CDTF">2026-10-11T19:53:30Z</dcterms:created>
  <dcterms:modified xsi:type="dcterms:W3CDTF">2026-10-13T11:57:38Z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